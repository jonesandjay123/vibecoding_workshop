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彼女に話させよう、焦って教え始めない。サイトを開いて、具体的に褒めるポイントを見つける——配色、レイアウト、写真のセンスとか何でもOK。「前回ゼロから作ったものがちゃんと動いてる」って実感してもらうのが大事。</a:t>
            </a:r>
          </a:p>
          <a:p>
            <a:r>
              <a:t>キーフレーズ：「前回ゼロからサイトを作って、しかも全世界に公開されてるんだよ。エンジニアでも初めてこれができた時はめちゃくちゃ嬉しいものだよ。」</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紙やホワイトボードに描きながら説明しよう。スライドの図はきれいすぎなくていい、手描き感がむしろいい。</a:t>
            </a:r>
          </a:p>
          <a:p>
            <a:r>
              <a:t>フロントエンドのところを指して：「ほら、フロントエンドって3つしかなくて、もう2つできてるんだよ。」</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この1枚は自信を持ってもらうための超大事なスライド。70%って聞いたらびっくりするはず。ちょっと間を置いて、じっくり伝えよう。</a:t>
            </a:r>
          </a:p>
          <a:p>
            <a:r>
              <a:t>「フロントエンドって全部で3つしかなくて、もう2つマスターしてる。つまりフロントエンドの70%のところにもう立ってるんだよ。」</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ポップアップストアは絶対わかるはず、インフルエンサー界隈ではおなじみだから。</a:t>
            </a:r>
          </a:p>
          <a:p>
            <a:r>
              <a:t>キーフレーズ：「今のサイトはめちゃくちゃおしゃれなポップアップストアみたいなもの——内装は完璧だけど、レジがないの。動的サイトっていうのは、そこにレジと会員システムが付いたバージョン。でもまだ焦らなくて大丈夫。」</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「今日はエンジニアが毎日使ってるツール——Git を覚えるよ。前回はファイルを手動で GitHub にアップロードしたよね？今日は『プロのやり方』を教えるね。コマンドを何個か打つだけでアップできるようになるよ。」</a:t>
            </a:r>
          </a:p>
          <a:p>
            <a:r>
              <a:t>「プロのやり方」って聞いたら緊張するかもしれないから、すぐ補足：「難しくないよ、コマンド6個だけだから。」</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サクッと流してOK、全部説明しなくていい。「これ覚えるとこんなにラクになるんだ」って感じてもらえれば十分。</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口頭で状態を確認しよう。OKそうなら次に進む。質問があればここで答える。急がない。</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まず聞いてみよう：「RPGとか、セーブ機能があるゲームやったことある？」やったことあってもなくてもこの例えでいく。</a:t>
            </a:r>
          </a:p>
          <a:p>
            <a:r>
              <a:t>「Git ってコードのセーブ機能みたいなもの。1回セーブすることを commit って言うんだけど、もしミスっても前のセーブポイントに戻れるの。」</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「今日覚えるのはこの6つだけ。本当に6つだけ。エンジニアが毎日使ってるのもこれだけだよ。」</a:t>
            </a:r>
          </a:p>
          <a:p>
            <a:r>
              <a:t>これはプレビューだから、今覚えなくてOK。あとで一つずつやっていくから。</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黒い画面を見てビビるかも（= ハッカーっぽい？）。「パソコンに LINE する感じ」で安心させよう。</a:t>
            </a:r>
          </a:p>
          <a:p>
            <a:r>
              <a:t>「この黒い画面が Terminal っていうんだけど、パソコンとテキストでチャットする場所だと思えばいいよ。普段はマウスでクリックしてるけど、今度は文字で話しかけるの。」</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自分で打ってもらう！キーボードを取らない。</a:t>
            </a:r>
          </a:p>
          <a:p>
            <a:r>
              <a:t>`pwd` → `/Users/名前` が表示されるはず</a:t>
            </a:r>
          </a:p>
          <a:p>
            <a:r>
              <a:t>`ls` → Desktop, Documents などが見える</a:t>
            </a:r>
          </a:p>
          <a:p>
            <a:r>
              <a:t>`cd Desktop` → もう一度 `pwd` して場所が変わったことを確認</a:t>
            </a:r>
          </a:p>
          <a:p>
            <a:r>
              <a:t>「今やったことは、文字を使ってパソコンの中をお散歩したってこと。」</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ダウンロードのメッセージが出た後の彼女のリアクションを待とう。「あ！私のやつだ！」ってなるはず。</a:t>
            </a:r>
          </a:p>
          <a:p>
            <a:r>
              <a:t>「コマンド1行で、自分のサイト丸ごと GitHub からダウンロードできたよ。前は手動でやってたのが、1行で済むようになったの。」</a:t>
            </a:r>
          </a:p>
          <a:p>
            <a:r>
              <a:t>⚠️ clone で認証を求められたら、事前に SSH key か token を準備しておく。ここで詰まらせない。</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達成感を味わってもらおう。次に急がない。</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「何でもいいよ、ちょっとした変更でOK。自分のサイトだから好きに変えていいからね。」</a:t>
            </a:r>
          </a:p>
          <a:p>
            <a:r>
              <a:t>何か変更があればそれでOK、たくさん変えなくて大丈夫。</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「赤い modified って見える？Git が『ここ変わってるよ、セーブする？』って教えてくれてるの。賢いでしょ、自動で何が変わったかわかるんだよ。」</a:t>
            </a:r>
          </a:p>
          <a:p>
            <a:r>
              <a:t>余裕があれば `git diff` で +/- の差分を見せてもいいけど、時間かけすぎない。</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「見て！緑になった！緑 = セーブするものを選び終わったってこと。」</a:t>
            </a:r>
          </a:p>
          <a:p>
            <a:r>
              <a:t>もし「なんで先に add するの？」って聞かれたら：「5個ファイルを変えたけど3個だけセーブしたい時もあるでしょ？add で選べるの。写真20枚撮って5枚だけ IG に載せるみたいな感じ。」</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「これがセーブボタンを押す瞬間！-m の後ろの文字は未来の自分へのメモだよ。1ヶ月後に見返した時に、あの日何を変えたかわかるようにね。」</a:t>
            </a:r>
          </a:p>
          <a:p>
            <a:r>
              <a:t>日本語でも中国語でも、好きな言語で書いてOK。</a:t>
            </a:r>
          </a:p>
          <a:p>
            <a:r>
              <a:t>⚠️ -m を忘れて vim に入っちゃったら → `Esc` → `:q!` で脱出。</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ここが今日のクライマックス 🎉🎉🎉</a:t>
            </a:r>
          </a:p>
          <a:p>
            <a:r>
              <a:t>「たった3行のコマンドで、変更が全世界に公開されたよ。前回は手動でアップロードしてたのが、3行で済むようになった。これがエンジニアが毎日やってることなの。」</a:t>
            </a:r>
          </a:p>
          <a:p>
            <a:r>
              <a:t>⚠️ push で認証が必要かも → 事前に token か SSH を準備。ここで詰まらせない。</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紙や画面にこのフローを描こう。彼女に一度復唱してもらう。</a:t>
            </a:r>
          </a:p>
          <a:p>
            <a:r>
              <a:t>「このリズムを覚えてね：変更→選択→セーブ→アップ。4ステップ。もうできるようになったよ。」</a:t>
            </a:r>
          </a:p>
          <a:p>
            <a:r>
              <a:t>これが今日一番大事なスライド。</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「今エンジニアレベルのスキルを1つ覚えたんだから、休憩して当然だよ。」</a:t>
            </a:r>
          </a:p>
          <a:p>
            <a:r>
              <a:t>ちゃんと休ませる、休憩中に教えない。</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ここはコンセプトだけ、コードは一切触らない！</a:t>
            </a:r>
          </a:p>
          <a:p>
            <a:r>
              <a:t>「おしゃれな内装はもうできてるよね。JS っていうのは、お店に『リアクション』をつけるもの——お客さんがベルを鳴らしたら音が出る、スイッチを押したら電気がつく、みたいな。」</a:t>
            </a:r>
          </a:p>
          <a:p>
            <a:r>
              <a:t>彼女のサイトを例に出す（コードは書かない）。</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紙に書こう。このフォーミュラは超大事、今後 JS のデモでずっと使う。</a:t>
            </a:r>
          </a:p>
          <a:p>
            <a:r>
              <a:t>「JavaScript って全部このパターンで理解できるの。これからコードを見たら、この3つを自分に聞いてみて。」</a:t>
            </a:r>
          </a:p>
          <a:p>
            <a:r>
              <a:t>補足：「JS は今自分でゼロから書かなくていいよ。あとで AI に書いてもらえるから。でも AI が書いたものが合ってるか見れるようにはなろうね。料理しなくていいけど、メニューは読めるようにしよう、みたいな感じ。」</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「UberEats で頼む時、レストランのキッチンがどうなってるか気にする？しないよね。注文すれば届く。API ってそういうこと。」</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ここは実際にやる！自分で URL を貼ってもらおう。</a:t>
            </a:r>
          </a:p>
          <a:p>
            <a:r>
              <a:t>「おめでとう、今 API を呼び出したよ！パソコンに『犬の画像ちょうだい』って言ったら、くれたの。」</a:t>
            </a:r>
          </a:p>
          <a:p>
            <a:r>
              <a:t>DiceBear で自分の名前を使って → 「かわいい！ブランドに使えそう？」</a:t>
            </a:r>
          </a:p>
          <a:p>
            <a:r>
              <a:t>「URL のパラメータを変えると、API は違う結果を返してくれるの。これが全部のアプリの裏側でやってることだよ。」</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このパートは一番楽しくてリラックスできるはず。理解できてればOK、テストしない。</a:t>
            </a:r>
          </a:p>
          <a:p>
            <a:r>
              <a:t>「将来ブランドを作る時、Instagram API で最新の投稿を自動表示したり、翻訳 API で日本のファンに日本語版を見せたりできるよ。」</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「今度は自分でやってみて。何を変えてもいいから、さっきの4ステップ覚えてる？——変更→選択→セーブ→アップ。」</a:t>
            </a:r>
          </a:p>
          <a:p>
            <a:r>
              <a:t>横で見守るだけ。キーボードを取りたくなっても我慢。彼女はできる。</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成功した後にだけ言う：「今、完全に自分の力でできたよ。2回目だね。これからサイトを更新する時はずっとこのリズムだよ。」</a:t>
            </a:r>
          </a:p>
          <a:p>
            <a:r>
              <a:t>スムーズにできたら → 最高。詰まったら → そっとヒントを出す、代わりに打たない。</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「これがセーブ履歴だよ。1行が1つのセーブポイント。ゲームのセーブ画面みたいでしょ？」</a:t>
            </a:r>
          </a:p>
          <a:p>
            <a:r>
              <a:t>GitHub のウェブで commit history を見せるのも◎、ビジュアルでわかりやすい。</a:t>
            </a:r>
          </a:p>
          <a:p>
            <a:r>
              <a:t>もし git pull について聞かれたら → 「別のパソコンで変更した時に使うよ。次回教えるね。」</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印刷するか、データで渡そう。これがあると安心感がある。</a:t>
            </a:r>
          </a:p>
          <a:p>
            <a:r>
              <a:t>「これ保存しておいてね。次に自分でサイトを更新する時、この通りにやればOK。暗記しなくていいよ、何回か打てば自然に覚えるから。」</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Jones が操作して、彼女は横で見る。PDF は事前に準備しておく。</a:t>
            </a:r>
          </a:p>
          <a:p>
            <a:r>
              <a:t>「期末試験の資料を全部突っ込めば、要点まとめと模擬問題を作ってくれるよ。Podcast 機能は通学中に聞けるよ。」</a:t>
            </a:r>
          </a:p>
          <a:p>
            <a:r>
              <a:t>Podcast の生成にはちょっと時間かかる → その間おしゃべりしよう。</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サクッと流してOK、深入りしない。</a:t>
            </a:r>
          </a:p>
          <a:p>
            <a:r>
              <a:t>「Vibe Coding っていう新しい考え方があって——言葉で AI に『こうして』って伝えると、AI がコードを書いてくれるの。自分で書けなくてもいいけど、合ってるか見れないとダメ。だから基礎を先にやってるんだよ。」</a:t>
            </a:r>
          </a:p>
          <a:p>
            <a:r>
              <a:t>彼女の目標とつなげる：テクノロジーはあくまで増幅装置、中日バイリンガルとブランドのアイデアこそが本当の強み。</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次のステップが明確に見えるようにする。迷子にならないように。</a:t>
            </a:r>
          </a:p>
          <a:p>
            <a:r>
              <a:t>各ステップを彼女のブランドの目標とつなげて話す。</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締めのキーフレーズ（ちゃんと伝えよう）：</a:t>
            </a:r>
          </a:p>
          <a:p>
            <a:r>
              <a:t>「今日は3つ学んだね。1つ目、Web の世界の全体像がわかった。2つ目、Git でサイトを管理できるようになった。3つ目、AI がどう使えるか見えた。もうきれいなポスターを作れるだけの人じゃないよ——プロのツールを使えるブランドクリエイターになったんだよ。」</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1828800"/>
            <a:ext cx="10058400" cy="1828800"/>
          </a:xfrm>
          <a:prstGeom prst="rect">
            <a:avLst/>
          </a:prstGeom>
          <a:noFill/>
        </p:spPr>
        <p:txBody>
          <a:bodyPr wrap="square">
            <a:spAutoFit/>
          </a:bodyPr>
          <a:lstStyle/>
          <a:p>
            <a:pPr algn="ctr">
              <a:defRPr sz="4400" b="1">
                <a:solidFill>
                  <a:srgbClr val="FFE135"/>
                </a:solidFill>
              </a:defRPr>
            </a:pPr>
            <a:r>
              <a:t>Session 2 スライド内容</a:t>
            </a:r>
          </a:p>
        </p:txBody>
      </p:sp>
      <p:sp>
        <p:nvSpPr>
          <p:cNvPr id="3" name="TextBox 2"/>
          <p:cNvSpPr txBox="1"/>
          <p:nvPr/>
        </p:nvSpPr>
        <p:spPr>
          <a:xfrm>
            <a:off x="914400" y="3657600"/>
            <a:ext cx="10058400" cy="914400"/>
          </a:xfrm>
          <a:prstGeom prst="rect">
            <a:avLst/>
          </a:prstGeom>
          <a:noFill/>
        </p:spPr>
        <p:txBody>
          <a:bodyPr wrap="square">
            <a:spAutoFit/>
          </a:bodyPr>
          <a:lstStyle/>
          <a:p>
            <a:pPr algn="ctr">
              <a:defRPr sz="2800" b="0">
                <a:solidFill>
                  <a:srgbClr val="FFFFFF"/>
                </a:solidFill>
              </a:defRPr>
            </a:pPr>
            <a:r>
              <a:t>Git CLI + Web の世界観</a:t>
            </a:r>
          </a:p>
        </p:txBody>
      </p:sp>
      <p:sp>
        <p:nvSpPr>
          <p:cNvPr id="4" name="TextBox 3"/>
          <p:cNvSpPr txBox="1"/>
          <p:nvPr/>
        </p:nvSpPr>
        <p:spPr>
          <a:xfrm>
            <a:off x="914400" y="4572000"/>
            <a:ext cx="10058400" cy="914400"/>
          </a:xfrm>
          <a:prstGeom prst="rect">
            <a:avLst/>
          </a:prstGeom>
          <a:noFill/>
        </p:spPr>
        <p:txBody>
          <a:bodyPr wrap="square">
            <a:spAutoFit/>
          </a:bodyPr>
          <a:lstStyle/>
          <a:p>
            <a:pPr algn="ctr">
              <a:defRPr sz="1800" b="0">
                <a:solidFill>
                  <a:srgbClr val="AAAAAA"/>
                </a:solidFill>
              </a:defRPr>
            </a:pPr>
            <a:r>
              <a:t>Jones の台本メモ</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D1B69"/>
        </a:solidFill>
        <a:effectLst/>
      </p:bgPr>
    </p:bg>
    <p:spTree>
      <p:nvGrpSpPr>
        <p:cNvPr id="1" name=""/>
        <p:cNvGrpSpPr/>
        <p:nvPr/>
      </p:nvGrpSpPr>
      <p:grpSpPr/>
      <p:sp>
        <p:nvSpPr>
          <p:cNvPr id="2" name="TextBox 1"/>
          <p:cNvSpPr txBox="1"/>
          <p:nvPr/>
        </p:nvSpPr>
        <p:spPr>
          <a:xfrm>
            <a:off x="914400" y="1828800"/>
            <a:ext cx="10058400" cy="1828800"/>
          </a:xfrm>
          <a:prstGeom prst="rect">
            <a:avLst/>
          </a:prstGeom>
          <a:noFill/>
        </p:spPr>
        <p:txBody>
          <a:bodyPr wrap="square">
            <a:spAutoFit/>
          </a:bodyPr>
          <a:lstStyle/>
          <a:p>
            <a:pPr algn="ctr">
              <a:defRPr sz="4000" b="1">
                <a:solidFill>
                  <a:srgbClr val="FFE135"/>
                </a:solidFill>
              </a:defRPr>
            </a:pPr>
            <a:r>
              <a:t>Block 1 ▸ 前菜：振り返り + Web の世界観</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D1B69"/>
        </a:solidFill>
        <a:effectLst/>
      </p:bgPr>
    </p:bg>
    <p:spTree>
      <p:nvGrpSpPr>
        <p:cNvPr id="1" name=""/>
        <p:cNvGrpSpPr/>
        <p:nvPr/>
      </p:nvGrpSpPr>
      <p:grpSpPr/>
      <p:sp>
        <p:nvSpPr>
          <p:cNvPr id="2" name="TextBox 1"/>
          <p:cNvSpPr txBox="1"/>
          <p:nvPr/>
        </p:nvSpPr>
        <p:spPr>
          <a:xfrm>
            <a:off x="731520" y="365760"/>
            <a:ext cx="10058400" cy="914400"/>
          </a:xfrm>
          <a:prstGeom prst="rect">
            <a:avLst/>
          </a:prstGeom>
          <a:noFill/>
        </p:spPr>
        <p:txBody>
          <a:bodyPr wrap="square">
            <a:spAutoFit/>
          </a:bodyPr>
          <a:lstStyle/>
          <a:p>
            <a:pPr algn="l">
              <a:defRPr sz="3200" b="1">
                <a:solidFill>
                  <a:srgbClr val="FFE135"/>
                </a:solidFill>
              </a:defRPr>
            </a:pPr>
            <a:r>
              <a:t>前回の成果を振り返ろう</a:t>
            </a:r>
          </a:p>
        </p:txBody>
      </p:sp>
      <p:sp>
        <p:nvSpPr>
          <p:cNvPr id="3" name="TextBox 2"/>
          <p:cNvSpPr txBox="1"/>
          <p:nvPr/>
        </p:nvSpPr>
        <p:spPr>
          <a:xfrm>
            <a:off x="731520" y="1371600"/>
            <a:ext cx="6400800" cy="3657600"/>
          </a:xfrm>
          <a:prstGeom prst="rect">
            <a:avLst/>
          </a:prstGeom>
          <a:noFill/>
        </p:spPr>
        <p:txBody>
          <a:bodyPr wrap="square">
            <a:spAutoFit/>
          </a:bodyPr>
          <a:lstStyle/>
          <a:p>
            <a:pPr algn="l">
              <a:spcAft>
                <a:spcPts val="800"/>
              </a:spcAft>
              <a:defRPr sz="2000" b="0">
                <a:solidFill>
                  <a:srgbClr val="FFFFFF"/>
                </a:solidFill>
              </a:defRPr>
            </a:pPr>
            <a:r>
              <a:t>• azunyan.hp（GitHub Pages）を開いてみよう</a:t>
            </a:r>
          </a:p>
          <a:p>
            <a:pPr>
              <a:spcAft>
                <a:spcPts val="800"/>
              </a:spcAft>
              <a:defRPr sz="2000">
                <a:solidFill>
                  <a:srgbClr val="FFFFFF"/>
                </a:solidFill>
              </a:defRPr>
            </a:pPr>
            <a:r>
              <a:t>• 「前回のあと、自分で何か変えてみた？」</a:t>
            </a:r>
          </a:p>
          <a:p>
            <a:pPr>
              <a:spcAft>
                <a:spcPts val="800"/>
              </a:spcAft>
              <a:defRPr sz="2000">
                <a:solidFill>
                  <a:srgbClr val="FFFFFF"/>
                </a:solidFill>
              </a:defRPr>
            </a:pPr>
            <a:r>
              <a:t>• 一緒にサイトを見て、具体的にいいところを褒める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D1B69"/>
        </a:solidFill>
        <a:effectLst/>
      </p:bgPr>
    </p:bg>
    <p:spTree>
      <p:nvGrpSpPr>
        <p:cNvPr id="1" name=""/>
        <p:cNvGrpSpPr/>
        <p:nvPr/>
      </p:nvGrpSpPr>
      <p:grpSpPr/>
      <p:sp>
        <p:nvSpPr>
          <p:cNvPr id="2" name="TextBox 1"/>
          <p:cNvSpPr txBox="1"/>
          <p:nvPr/>
        </p:nvSpPr>
        <p:spPr>
          <a:xfrm>
            <a:off x="731520" y="365760"/>
            <a:ext cx="10058400" cy="914400"/>
          </a:xfrm>
          <a:prstGeom prst="rect">
            <a:avLst/>
          </a:prstGeom>
          <a:noFill/>
        </p:spPr>
        <p:txBody>
          <a:bodyPr wrap="square">
            <a:spAutoFit/>
          </a:bodyPr>
          <a:lstStyle/>
          <a:p>
            <a:pPr algn="l">
              <a:defRPr sz="3200" b="1">
                <a:solidFill>
                  <a:srgbClr val="FFE135"/>
                </a:solidFill>
              </a:defRPr>
            </a:pPr>
            <a:r>
              <a:t>あなたのブランドショップ 🏪</a:t>
            </a:r>
          </a:p>
        </p:txBody>
      </p:sp>
      <p:sp>
        <p:nvSpPr>
          <p:cNvPr id="3" name="TextBox 2"/>
          <p:cNvSpPr txBox="1"/>
          <p:nvPr/>
        </p:nvSpPr>
        <p:spPr>
          <a:xfrm>
            <a:off x="731520" y="1828800"/>
            <a:ext cx="10058400" cy="3657600"/>
          </a:xfrm>
          <a:prstGeom prst="rect">
            <a:avLst/>
          </a:prstGeom>
          <a:solidFill>
            <a:srgbClr val="0D0D0D"/>
          </a:solidFill>
        </p:spPr>
        <p:txBody>
          <a:bodyPr wrap="square">
            <a:spAutoFit/>
          </a:bodyPr>
          <a:lstStyle/>
          <a:p>
            <a:pPr>
              <a:defRPr sz="1400">
                <a:solidFill>
                  <a:srgbClr val="00FF88"/>
                </a:solidFill>
                <a:latin typeface="Menlo"/>
              </a:defRPr>
            </a:pPr>
            <a:r>
              <a:t>🏪 あなたのブランドショップ</a:t>
            </a:r>
            <a:br/>
            <a:br/>
            <a:r>
              <a:t>🎨 店舗のインテリア（フロントエンド Frontend）</a:t>
            </a:r>
            <a:br/>
            <a:r>
              <a:t>   HTML = 骨組み（壁、棚）</a:t>
            </a:r>
            <a:br/>
            <a:r>
              <a:t>   CSS  = 内装（ペンキ、照明）</a:t>
            </a:r>
            <a:br/>
            <a:r>
              <a:t>   JS   = 接客（ベルを押すと鳴る）</a:t>
            </a:r>
            <a:br/>
            <a:r>
              <a:t>   ← 最初の2つはもうできるよ ✅</a:t>
            </a:r>
            <a:br/>
            <a:br/>
            <a:r>
              <a:t>📞 ウェイター（API）</a:t>
            </a:r>
            <a:br/>
            <a:r>
              <a:t>   店舗とキッチンの間でメッセージを伝える</a:t>
            </a:r>
            <a:br/>
            <a:br/>
            <a:r>
              <a:t>👨‍🍳 キッチン（バックエンド Backend）</a:t>
            </a:r>
            <a:br/>
            <a:r>
              <a:t>   注文処理、送料計算、本人確認</a:t>
            </a:r>
            <a:br/>
            <a:br/>
            <a:r>
              <a:t>📦 倉庫（データベース Database）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D1B69"/>
        </a:solidFill>
        <a:effectLst/>
      </p:bgPr>
    </p:bg>
    <p:spTree>
      <p:nvGrpSpPr>
        <p:cNvPr id="1" name=""/>
        <p:cNvGrpSpPr/>
        <p:nvPr/>
      </p:nvGrpSpPr>
      <p:grpSpPr/>
      <p:sp>
        <p:nvSpPr>
          <p:cNvPr id="2" name="TextBox 1"/>
          <p:cNvSpPr txBox="1"/>
          <p:nvPr/>
        </p:nvSpPr>
        <p:spPr>
          <a:xfrm>
            <a:off x="731520" y="365760"/>
            <a:ext cx="10058400" cy="914400"/>
          </a:xfrm>
          <a:prstGeom prst="rect">
            <a:avLst/>
          </a:prstGeom>
          <a:noFill/>
        </p:spPr>
        <p:txBody>
          <a:bodyPr wrap="square">
            <a:spAutoFit/>
          </a:bodyPr>
          <a:lstStyle/>
          <a:p>
            <a:pPr algn="l">
              <a:defRPr sz="3200" b="1">
                <a:solidFill>
                  <a:srgbClr val="FFE135"/>
                </a:solidFill>
              </a:defRPr>
            </a:pPr>
            <a:r>
              <a:t>フロントエンド三兄弟、もう2人は知り合い</a:t>
            </a:r>
          </a:p>
        </p:txBody>
      </p:sp>
      <p:sp>
        <p:nvSpPr>
          <p:cNvPr id="3" name="TextBox 2"/>
          <p:cNvSpPr txBox="1"/>
          <p:nvPr/>
        </p:nvSpPr>
        <p:spPr>
          <a:xfrm>
            <a:off x="731520" y="1371600"/>
            <a:ext cx="6400800" cy="3657600"/>
          </a:xfrm>
          <a:prstGeom prst="rect">
            <a:avLst/>
          </a:prstGeom>
          <a:noFill/>
        </p:spPr>
        <p:txBody>
          <a:bodyPr wrap="square">
            <a:spAutoFit/>
          </a:bodyPr>
          <a:lstStyle/>
          <a:p>
            <a:pPr algn="l">
              <a:spcAft>
                <a:spcPts val="800"/>
              </a:spcAft>
              <a:defRPr sz="2000" b="0">
                <a:solidFill>
                  <a:srgbClr val="FFFFFF"/>
                </a:solidFill>
              </a:defRPr>
            </a:pPr>
            <a:r>
              <a:t>• HTML → 骨組み ✅ できた</a:t>
            </a:r>
          </a:p>
          <a:p>
            <a:pPr>
              <a:spcAft>
                <a:spcPts val="800"/>
              </a:spcAft>
              <a:defRPr sz="2000">
                <a:solidFill>
                  <a:srgbClr val="FFFFFF"/>
                </a:solidFill>
              </a:defRPr>
            </a:pPr>
            <a:r>
              <a:t>• CSS → 内装 ✅ できた</a:t>
            </a:r>
          </a:p>
          <a:p>
            <a:pPr>
              <a:spcAft>
                <a:spcPts val="800"/>
              </a:spcAft>
              <a:defRPr sz="2000">
                <a:solidFill>
                  <a:srgbClr val="FFFFFF"/>
                </a:solidFill>
              </a:defRPr>
            </a:pPr>
            <a:r>
              <a:t>• JavaScript → インタラクション ← 今日ちょっとだけ紹介</a:t>
            </a:r>
          </a:p>
          <a:p>
            <a:pPr>
              <a:spcAft>
                <a:spcPts val="800"/>
              </a:spcAft>
              <a:defRPr sz="2000">
                <a:solidFill>
                  <a:srgbClr val="FFFFFF"/>
                </a:solidFill>
              </a:defRPr>
            </a:pPr>
            <a:r>
              <a:t>• フロントエンドの70%のところにもう立ってるんだよ</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D1B69"/>
        </a:solidFill>
        <a:effectLst/>
      </p:bgPr>
    </p:bg>
    <p:spTree>
      <p:nvGrpSpPr>
        <p:cNvPr id="1" name=""/>
        <p:cNvGrpSpPr/>
        <p:nvPr/>
      </p:nvGrpSpPr>
      <p:grpSpPr/>
      <p:sp>
        <p:nvSpPr>
          <p:cNvPr id="2" name="TextBox 1"/>
          <p:cNvSpPr txBox="1"/>
          <p:nvPr/>
        </p:nvSpPr>
        <p:spPr>
          <a:xfrm>
            <a:off x="731520" y="365760"/>
            <a:ext cx="10058400" cy="914400"/>
          </a:xfrm>
          <a:prstGeom prst="rect">
            <a:avLst/>
          </a:prstGeom>
          <a:noFill/>
        </p:spPr>
        <p:txBody>
          <a:bodyPr wrap="square">
            <a:spAutoFit/>
          </a:bodyPr>
          <a:lstStyle/>
          <a:p>
            <a:pPr algn="l">
              <a:defRPr sz="3200" b="1">
                <a:solidFill>
                  <a:srgbClr val="FFE135"/>
                </a:solidFill>
              </a:defRPr>
            </a:pPr>
            <a:r>
              <a:t>ポップアップストア vs 旗艦店</a:t>
            </a:r>
          </a:p>
        </p:txBody>
      </p:sp>
      <p:sp>
        <p:nvSpPr>
          <p:cNvPr id="3" name="TextBox 2"/>
          <p:cNvSpPr txBox="1"/>
          <p:nvPr/>
        </p:nvSpPr>
        <p:spPr>
          <a:xfrm>
            <a:off x="731520" y="1371600"/>
            <a:ext cx="6400800" cy="3657600"/>
          </a:xfrm>
          <a:prstGeom prst="rect">
            <a:avLst/>
          </a:prstGeom>
          <a:noFill/>
        </p:spPr>
        <p:txBody>
          <a:bodyPr wrap="square">
            <a:spAutoFit/>
          </a:bodyPr>
          <a:lstStyle/>
          <a:p>
            <a:pPr algn="l">
              <a:spcAft>
                <a:spcPts val="800"/>
              </a:spcAft>
              <a:defRPr sz="2000" b="0">
                <a:solidFill>
                  <a:srgbClr val="FFFFFF"/>
                </a:solidFill>
              </a:defRPr>
            </a:pPr>
            <a:r>
              <a:t>• 今のサイト = めちゃくちゃおしゃれなポップアップストア 🏪✨</a:t>
            </a:r>
          </a:p>
          <a:p>
            <a:pPr>
              <a:spcAft>
                <a:spcPts val="800"/>
              </a:spcAft>
              <a:defRPr sz="2000">
                <a:solidFill>
                  <a:srgbClr val="FFFFFF"/>
                </a:solidFill>
              </a:defRPr>
            </a:pPr>
            <a:r>
              <a:t>• インテリア最高だけど、レジがない、お客さんの記録もない</a:t>
            </a:r>
          </a:p>
          <a:p>
            <a:pPr>
              <a:spcAft>
                <a:spcPts val="800"/>
              </a:spcAft>
              <a:defRPr sz="2000">
                <a:solidFill>
                  <a:srgbClr val="FFFFFF"/>
                </a:solidFill>
              </a:defRPr>
            </a:pPr>
            <a:r>
              <a:t>• 動的サイト = レジ＋会員システム付きの旗艦店</a:t>
            </a:r>
          </a:p>
          <a:p>
            <a:pPr>
              <a:spcAft>
                <a:spcPts val="800"/>
              </a:spcAft>
              <a:defRPr sz="2000">
                <a:solidFill>
                  <a:srgbClr val="FFFFFF"/>
                </a:solidFill>
              </a:defRPr>
            </a:pPr>
            <a:r>
              <a:t>• まだ焦らなくてOK、ポップアップストアだけでも十分すごい</a:t>
            </a:r>
          </a:p>
          <a:p>
            <a:pPr>
              <a:spcAft>
                <a:spcPts val="800"/>
              </a:spcAft>
              <a:defRPr sz="2000">
                <a:solidFill>
                  <a:srgbClr val="FFFFFF"/>
                </a:solidFill>
              </a:defRPr>
            </a:pPr>
            <a:r>
              <a:t>• IG で例えると：</a:t>
            </a:r>
          </a:p>
          <a:p>
            <a:pPr>
              <a:spcAft>
                <a:spcPts val="800"/>
              </a:spcAft>
              <a:defRPr sz="2000">
                <a:solidFill>
                  <a:srgbClr val="FFFFFF"/>
                </a:solidFill>
              </a:defRPr>
            </a:pPr>
            <a:r>
              <a:t>• プロフィール＋ハイライト = 静的（誰が見ても同じ）</a:t>
            </a:r>
          </a:p>
          <a:p>
            <a:pPr>
              <a:spcAft>
                <a:spcPts val="800"/>
              </a:spcAft>
              <a:defRPr sz="2000">
                <a:solidFill>
                  <a:srgbClr val="FFFFFF"/>
                </a:solidFill>
              </a:defRPr>
            </a:pPr>
            <a:r>
              <a:t>• ホームフィード = 動的（アルゴリズムで中身が変わる）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D1B69"/>
        </a:solidFill>
        <a:effectLst/>
      </p:bgPr>
    </p:bg>
    <p:spTree>
      <p:nvGrpSpPr>
        <p:cNvPr id="1" name=""/>
        <p:cNvGrpSpPr/>
        <p:nvPr/>
      </p:nvGrpSpPr>
      <p:grpSpPr/>
      <p:sp>
        <p:nvSpPr>
          <p:cNvPr id="2" name="TextBox 1"/>
          <p:cNvSpPr txBox="1"/>
          <p:nvPr/>
        </p:nvSpPr>
        <p:spPr>
          <a:xfrm>
            <a:off x="731520" y="365760"/>
            <a:ext cx="10058400" cy="914400"/>
          </a:xfrm>
          <a:prstGeom prst="rect">
            <a:avLst/>
          </a:prstGeom>
          <a:noFill/>
        </p:spPr>
        <p:txBody>
          <a:bodyPr wrap="square">
            <a:spAutoFit/>
          </a:bodyPr>
          <a:lstStyle/>
          <a:p>
            <a:pPr algn="l">
              <a:defRPr sz="3200" b="1">
                <a:solidFill>
                  <a:srgbClr val="FFE135"/>
                </a:solidFill>
              </a:defRPr>
            </a:pPr>
            <a:r>
              <a:t>今日やること</a:t>
            </a:r>
          </a:p>
        </p:txBody>
      </p:sp>
      <p:sp>
        <p:nvSpPr>
          <p:cNvPr id="3" name="TextBox 2"/>
          <p:cNvSpPr txBox="1"/>
          <p:nvPr/>
        </p:nvSpPr>
        <p:spPr>
          <a:xfrm>
            <a:off x="731520" y="1828800"/>
            <a:ext cx="10058400" cy="3657600"/>
          </a:xfrm>
          <a:prstGeom prst="rect">
            <a:avLst/>
          </a:prstGeom>
          <a:solidFill>
            <a:srgbClr val="0D0D0D"/>
          </a:solidFill>
        </p:spPr>
        <p:txBody>
          <a:bodyPr wrap="square">
            <a:spAutoFit/>
          </a:bodyPr>
          <a:lstStyle/>
          <a:p>
            <a:pPr>
              <a:defRPr sz="1400">
                <a:solidFill>
                  <a:srgbClr val="00FF88"/>
                </a:solidFill>
                <a:latin typeface="Menlo"/>
              </a:defRPr>
            </a:pPr>
            <a:r>
              <a:t>🗺️ 今日のルート</a:t>
            </a:r>
            <a:br/>
            <a:br/>
            <a:r>
              <a:t>Block 1  振り返り + 世界観     ← いまここ</a:t>
            </a:r>
            <a:br/>
            <a:r>
              <a:t>Block 2  Git コンセプト + Terminal</a:t>
            </a:r>
            <a:br/>
            <a:r>
              <a:t>Block 3  Git コアサイクル 🔥</a:t>
            </a:r>
            <a:br/>
            <a:r>
              <a:t>   ☕ 休憩</a:t>
            </a:r>
            <a:br/>
            <a:r>
              <a:t>Block 4  JS コンセプト + API コンセプト</a:t>
            </a:r>
            <a:br/>
            <a:r>
              <a:t>Block 5  Git 第2ラウンド練習</a:t>
            </a:r>
            <a:br/>
            <a:r>
              <a:t>Block 6  Demo ショー + ロードマップ</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D1B69"/>
        </a:solidFill>
        <a:effectLst/>
      </p:bgPr>
    </p:bg>
    <p:spTree>
      <p:nvGrpSpPr>
        <p:cNvPr id="1" name=""/>
        <p:cNvGrpSpPr/>
        <p:nvPr/>
      </p:nvGrpSpPr>
      <p:grpSpPr/>
      <p:sp>
        <p:nvSpPr>
          <p:cNvPr id="2" name="TextBox 1"/>
          <p:cNvSpPr txBox="1"/>
          <p:nvPr/>
        </p:nvSpPr>
        <p:spPr>
          <a:xfrm>
            <a:off x="731520" y="365760"/>
            <a:ext cx="10058400" cy="914400"/>
          </a:xfrm>
          <a:prstGeom prst="rect">
            <a:avLst/>
          </a:prstGeom>
          <a:noFill/>
        </p:spPr>
        <p:txBody>
          <a:bodyPr wrap="square">
            <a:spAutoFit/>
          </a:bodyPr>
          <a:lstStyle/>
          <a:p>
            <a:pPr algn="l">
              <a:defRPr sz="3200" b="1">
                <a:solidFill>
                  <a:srgbClr val="FFE135"/>
                </a:solidFill>
              </a:defRPr>
            </a:pPr>
            <a:r>
              <a:t>Before vs After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D1B69"/>
        </a:solidFill>
        <a:effectLst/>
      </p:bgPr>
    </p:bg>
    <p:spTree>
      <p:nvGrpSpPr>
        <p:cNvPr id="1" name=""/>
        <p:cNvGrpSpPr/>
        <p:nvPr/>
      </p:nvGrpSpPr>
      <p:grpSpPr/>
      <p:sp>
        <p:nvSpPr>
          <p:cNvPr id="2" name="TextBox 1"/>
          <p:cNvSpPr txBox="1"/>
          <p:nvPr/>
        </p:nvSpPr>
        <p:spPr>
          <a:xfrm>
            <a:off x="731520" y="365760"/>
            <a:ext cx="10058400" cy="914400"/>
          </a:xfrm>
          <a:prstGeom prst="rect">
            <a:avLst/>
          </a:prstGeom>
          <a:noFill/>
        </p:spPr>
        <p:txBody>
          <a:bodyPr wrap="square">
            <a:spAutoFit/>
          </a:bodyPr>
          <a:lstStyle/>
          <a:p>
            <a:pPr algn="l">
              <a:defRPr sz="3200" b="1">
                <a:solidFill>
                  <a:srgbClr val="FFE135"/>
                </a:solidFill>
              </a:defRPr>
            </a:pPr>
            <a:r>
              <a:t>✅ チェックポイント</a:t>
            </a:r>
          </a:p>
        </p:txBody>
      </p:sp>
      <p:sp>
        <p:nvSpPr>
          <p:cNvPr id="3" name="TextBox 2"/>
          <p:cNvSpPr txBox="1"/>
          <p:nvPr/>
        </p:nvSpPr>
        <p:spPr>
          <a:xfrm>
            <a:off x="731520" y="1371600"/>
            <a:ext cx="6400800" cy="3657600"/>
          </a:xfrm>
          <a:prstGeom prst="rect">
            <a:avLst/>
          </a:prstGeom>
          <a:noFill/>
        </p:spPr>
        <p:txBody>
          <a:bodyPr wrap="square">
            <a:spAutoFit/>
          </a:bodyPr>
          <a:lstStyle/>
          <a:p>
            <a:pPr algn="l">
              <a:spcAft>
                <a:spcPts val="800"/>
              </a:spcAft>
              <a:defRPr sz="2000" b="0">
                <a:solidFill>
                  <a:srgbClr val="FFFFFF"/>
                </a:solidFill>
              </a:defRPr>
            </a:pPr>
            <a:r>
              <a:t>• 「フロントエンド70%のところにいるんだ！」</a:t>
            </a:r>
          </a:p>
          <a:p>
            <a:pPr>
              <a:spcAft>
                <a:spcPts val="800"/>
              </a:spcAft>
              <a:defRPr sz="2000">
                <a:solidFill>
                  <a:srgbClr val="FFFFFF"/>
                </a:solidFill>
              </a:defRPr>
            </a:pPr>
            <a:r>
              <a:t>• 「フロントエンド / バックエンド / API / データベースがざっくりわかった」</a:t>
            </a:r>
          </a:p>
          <a:p>
            <a:pPr>
              <a:spcAft>
                <a:spcPts val="800"/>
              </a:spcAft>
              <a:defRPr sz="2000">
                <a:solidFill>
                  <a:srgbClr val="FFFFFF"/>
                </a:solidFill>
              </a:defRPr>
            </a:pPr>
            <a:r>
              <a:t>• ここまでOK？質問ある？</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14444"/>
        </a:solidFill>
        <a:effectLst/>
      </p:bgPr>
    </p:bg>
    <p:spTree>
      <p:nvGrpSpPr>
        <p:cNvPr id="1" name=""/>
        <p:cNvGrpSpPr/>
        <p:nvPr/>
      </p:nvGrpSpPr>
      <p:grpSpPr/>
      <p:sp>
        <p:nvSpPr>
          <p:cNvPr id="2" name="TextBox 1"/>
          <p:cNvSpPr txBox="1"/>
          <p:nvPr/>
        </p:nvSpPr>
        <p:spPr>
          <a:xfrm>
            <a:off x="914400" y="1828800"/>
            <a:ext cx="10058400" cy="1828800"/>
          </a:xfrm>
          <a:prstGeom prst="rect">
            <a:avLst/>
          </a:prstGeom>
          <a:noFill/>
        </p:spPr>
        <p:txBody>
          <a:bodyPr wrap="square">
            <a:spAutoFit/>
          </a:bodyPr>
          <a:lstStyle/>
          <a:p>
            <a:pPr algn="ctr">
              <a:defRPr sz="4000" b="1">
                <a:solidFill>
                  <a:srgbClr val="FFE135"/>
                </a:solidFill>
              </a:defRPr>
            </a:pPr>
            <a:r>
              <a:t>Block 2 ▸ メイン①：Git コンセプト + Terminal + Clone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14444"/>
        </a:solidFill>
        <a:effectLst/>
      </p:bgPr>
    </p:bg>
    <p:spTree>
      <p:nvGrpSpPr>
        <p:cNvPr id="1" name=""/>
        <p:cNvGrpSpPr/>
        <p:nvPr/>
      </p:nvGrpSpPr>
      <p:grpSpPr/>
      <p:sp>
        <p:nvSpPr>
          <p:cNvPr id="2" name="TextBox 1"/>
          <p:cNvSpPr txBox="1"/>
          <p:nvPr/>
        </p:nvSpPr>
        <p:spPr>
          <a:xfrm>
            <a:off x="731520" y="365760"/>
            <a:ext cx="10058400" cy="914400"/>
          </a:xfrm>
          <a:prstGeom prst="rect">
            <a:avLst/>
          </a:prstGeom>
          <a:noFill/>
        </p:spPr>
        <p:txBody>
          <a:bodyPr wrap="square">
            <a:spAutoFit/>
          </a:bodyPr>
          <a:lstStyle/>
          <a:p>
            <a:pPr algn="l">
              <a:defRPr sz="3200" b="1">
                <a:solidFill>
                  <a:srgbClr val="FFE135"/>
                </a:solidFill>
              </a:defRPr>
            </a:pPr>
            <a:r>
              <a:t>🎮 Git はゲームのセーブ機能</a:t>
            </a:r>
          </a:p>
        </p:txBody>
      </p:sp>
      <p:sp>
        <p:nvSpPr>
          <p:cNvPr id="3" name="TextBox 2"/>
          <p:cNvSpPr txBox="1"/>
          <p:nvPr/>
        </p:nvSpPr>
        <p:spPr>
          <a:xfrm>
            <a:off x="731520" y="1371600"/>
            <a:ext cx="6400800" cy="3657600"/>
          </a:xfrm>
          <a:prstGeom prst="rect">
            <a:avLst/>
          </a:prstGeom>
          <a:noFill/>
        </p:spPr>
        <p:txBody>
          <a:bodyPr wrap="square">
            <a:spAutoFit/>
          </a:bodyPr>
          <a:lstStyle/>
          <a:p>
            <a:pPr algn="l">
              <a:spcAft>
                <a:spcPts val="800"/>
              </a:spcAft>
              <a:defRPr sz="2000" b="0">
                <a:solidFill>
                  <a:srgbClr val="FFFFFF"/>
                </a:solidFill>
              </a:defRPr>
            </a:pPr>
            <a:r>
              <a:t>• ボス戦前にセーブするよね → Git はコードの世界でそれをやるツール</a:t>
            </a:r>
          </a:p>
          <a:p>
            <a:pPr>
              <a:spcAft>
                <a:spcPts val="800"/>
              </a:spcAft>
              <a:defRPr sz="2000">
                <a:solidFill>
                  <a:srgbClr val="FFFFFF"/>
                </a:solidFill>
              </a:defRPr>
            </a:pPr>
            <a:r>
              <a:t>• セーブ1回 = commit 1つ</a:t>
            </a:r>
          </a:p>
          <a:p>
            <a:pPr>
              <a:spcAft>
                <a:spcPts val="800"/>
              </a:spcAft>
              <a:defRPr sz="2000">
                <a:solidFill>
                  <a:srgbClr val="FFFFFF"/>
                </a:solidFill>
              </a:defRPr>
            </a:pPr>
            <a:r>
              <a:t>• ミスっても前のセーブポイントに戻れる</a:t>
            </a:r>
          </a:p>
          <a:p>
            <a:pPr>
              <a:spcAft>
                <a:spcPts val="800"/>
              </a:spcAft>
              <a:defRPr sz="2000">
                <a:solidFill>
                  <a:srgbClr val="FFFFFF"/>
                </a:solidFill>
              </a:defRPr>
            </a:pPr>
            <a:r>
              <a:t>• GitHub = クラウドバックアップ（Switch のクラウドセーブみたいなもの）</a:t>
            </a:r>
          </a:p>
        </p:txBody>
      </p:sp>
      <p:sp>
        <p:nvSpPr>
          <p:cNvPr id="4" name="TextBox 3"/>
          <p:cNvSpPr txBox="1"/>
          <p:nvPr/>
        </p:nvSpPr>
        <p:spPr>
          <a:xfrm>
            <a:off x="731520" y="3017520"/>
            <a:ext cx="10058400" cy="3657600"/>
          </a:xfrm>
          <a:prstGeom prst="rect">
            <a:avLst/>
          </a:prstGeom>
          <a:solidFill>
            <a:srgbClr val="0D0D0D"/>
          </a:solidFill>
        </p:spPr>
        <p:txBody>
          <a:bodyPr wrap="square">
            <a:spAutoFit/>
          </a:bodyPr>
          <a:lstStyle/>
          <a:p>
            <a:pPr>
              <a:defRPr sz="1400">
                <a:solidFill>
                  <a:srgbClr val="00FF88"/>
                </a:solidFill>
                <a:latin typeface="Menlo"/>
              </a:defRPr>
            </a:pPr>
            <a:r>
              <a:t>あなたの PC              GitHub（クラウド）</a:t>
            </a:r>
            <a:br/>
            <a:r>
              <a:t>┌────────┐  push →  ┌────────┐</a:t>
            </a:r>
            <a:br/>
            <a:r>
              <a:t>│変更した  │          │ バック  │</a:t>
            </a:r>
            <a:br/>
            <a:r>
              <a:t>│ファイル  │ ← pull   │ アップ  │</a:t>
            </a:r>
            <a:br/>
            <a:r>
              <a: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14444"/>
        </a:solidFill>
        <a:effectLst/>
      </p:bgPr>
    </p:bg>
    <p:spTree>
      <p:nvGrpSpPr>
        <p:cNvPr id="1" name=""/>
        <p:cNvGrpSpPr/>
        <p:nvPr/>
      </p:nvGrpSpPr>
      <p:grpSpPr/>
      <p:sp>
        <p:nvSpPr>
          <p:cNvPr id="2" name="TextBox 1"/>
          <p:cNvSpPr txBox="1"/>
          <p:nvPr/>
        </p:nvSpPr>
        <p:spPr>
          <a:xfrm>
            <a:off x="731520" y="365760"/>
            <a:ext cx="10058400" cy="914400"/>
          </a:xfrm>
          <a:prstGeom prst="rect">
            <a:avLst/>
          </a:prstGeom>
          <a:noFill/>
        </p:spPr>
        <p:txBody>
          <a:bodyPr wrap="square">
            <a:spAutoFit/>
          </a:bodyPr>
          <a:lstStyle/>
          <a:p>
            <a:pPr algn="l">
              <a:defRPr sz="3200" b="1">
                <a:solidFill>
                  <a:srgbClr val="FFE135"/>
                </a:solidFill>
              </a:defRPr>
            </a:pPr>
            <a:r>
              <a:t>今日覚えるのはこの6つだけ</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14444"/>
        </a:solidFill>
        <a:effectLst/>
      </p:bgPr>
    </p:bg>
    <p:spTree>
      <p:nvGrpSpPr>
        <p:cNvPr id="1" name=""/>
        <p:cNvGrpSpPr/>
        <p:nvPr/>
      </p:nvGrpSpPr>
      <p:grpSpPr/>
      <p:sp>
        <p:nvSpPr>
          <p:cNvPr id="2" name="TextBox 1"/>
          <p:cNvSpPr txBox="1"/>
          <p:nvPr/>
        </p:nvSpPr>
        <p:spPr>
          <a:xfrm>
            <a:off x="731520" y="365760"/>
            <a:ext cx="10058400" cy="914400"/>
          </a:xfrm>
          <a:prstGeom prst="rect">
            <a:avLst/>
          </a:prstGeom>
          <a:noFill/>
        </p:spPr>
        <p:txBody>
          <a:bodyPr wrap="square">
            <a:spAutoFit/>
          </a:bodyPr>
          <a:lstStyle/>
          <a:p>
            <a:pPr algn="l">
              <a:defRPr sz="3200" b="1">
                <a:solidFill>
                  <a:srgbClr val="FFE135"/>
                </a:solidFill>
              </a:defRPr>
            </a:pPr>
            <a:r>
              <a:t>Terminal = パソコンに LINE する感じ</a:t>
            </a:r>
          </a:p>
        </p:txBody>
      </p:sp>
      <p:sp>
        <p:nvSpPr>
          <p:cNvPr id="3" name="TextBox 2"/>
          <p:cNvSpPr txBox="1"/>
          <p:nvPr/>
        </p:nvSpPr>
        <p:spPr>
          <a:xfrm>
            <a:off x="731520" y="1371600"/>
            <a:ext cx="6400800" cy="3657600"/>
          </a:xfrm>
          <a:prstGeom prst="rect">
            <a:avLst/>
          </a:prstGeom>
          <a:noFill/>
        </p:spPr>
        <p:txBody>
          <a:bodyPr wrap="square">
            <a:spAutoFit/>
          </a:bodyPr>
          <a:lstStyle/>
          <a:p>
            <a:pPr algn="l">
              <a:spcAft>
                <a:spcPts val="800"/>
              </a:spcAft>
              <a:defRPr sz="2000" b="0">
                <a:solidFill>
                  <a:srgbClr val="FFFFFF"/>
                </a:solidFill>
              </a:defRPr>
            </a:pPr>
            <a:r>
              <a:t>• Cmd + スペース → "Terminal" と入力 → Enter</a:t>
            </a:r>
          </a:p>
          <a:p>
            <a:pPr>
              <a:spcAft>
                <a:spcPts val="800"/>
              </a:spcAft>
              <a:defRPr sz="2000">
                <a:solidFill>
                  <a:srgbClr val="FFFFFF"/>
                </a:solidFill>
              </a:defRPr>
            </a:pPr>
            <a:r>
              <a:t>• 自分で開いてもらう、こっちが操作しない</a:t>
            </a:r>
          </a:p>
          <a:p>
            <a:pPr>
              <a:spcAft>
                <a:spcPts val="800"/>
              </a:spcAft>
              <a:defRPr sz="2000">
                <a:solidFill>
                  <a:srgbClr val="FFFFFF"/>
                </a:solidFill>
              </a:defRPr>
            </a:pPr>
            <a:r>
              <a:t>• 黒い画面が出たら →「パソコンとテキストでチャットするところだよ。こっちが打つと、パソコンが返事してくれる」</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14444"/>
        </a:solidFill>
        <a:effectLst/>
      </p:bgPr>
    </p:bg>
    <p:spTree>
      <p:nvGrpSpPr>
        <p:cNvPr id="1" name=""/>
        <p:cNvGrpSpPr/>
        <p:nvPr/>
      </p:nvGrpSpPr>
      <p:grpSpPr/>
      <p:sp>
        <p:nvSpPr>
          <p:cNvPr id="2" name="TextBox 1"/>
          <p:cNvSpPr txBox="1"/>
          <p:nvPr/>
        </p:nvSpPr>
        <p:spPr>
          <a:xfrm>
            <a:off x="731520" y="365760"/>
            <a:ext cx="10058400" cy="914400"/>
          </a:xfrm>
          <a:prstGeom prst="rect">
            <a:avLst/>
          </a:prstGeom>
          <a:noFill/>
        </p:spPr>
        <p:txBody>
          <a:bodyPr wrap="square">
            <a:spAutoFit/>
          </a:bodyPr>
          <a:lstStyle/>
          <a:p>
            <a:pPr algn="l">
              <a:defRPr sz="3200" b="1">
                <a:solidFill>
                  <a:srgbClr val="FFE135"/>
                </a:solidFill>
              </a:defRPr>
            </a:pPr>
            <a:r>
              <a:t>パソコンの中をお散歩する</a:t>
            </a:r>
          </a:p>
        </p:txBody>
      </p:sp>
      <p:sp>
        <p:nvSpPr>
          <p:cNvPr id="3" name="TextBox 2"/>
          <p:cNvSpPr txBox="1"/>
          <p:nvPr/>
        </p:nvSpPr>
        <p:spPr>
          <a:xfrm>
            <a:off x="731520" y="1371600"/>
            <a:ext cx="6400800" cy="3657600"/>
          </a:xfrm>
          <a:prstGeom prst="rect">
            <a:avLst/>
          </a:prstGeom>
          <a:noFill/>
        </p:spPr>
        <p:txBody>
          <a:bodyPr wrap="square">
            <a:spAutoFit/>
          </a:bodyPr>
          <a:lstStyle/>
          <a:p>
            <a:pPr algn="l">
              <a:spcAft>
                <a:spcPts val="800"/>
              </a:spcAft>
              <a:defRPr sz="2000" b="0">
                <a:solidFill>
                  <a:srgbClr val="FFFFFF"/>
                </a:solidFill>
              </a:defRPr>
            </a:pPr>
            <a:r>
              <a:t>• 1つずつ打ってもらう</a:t>
            </a:r>
          </a:p>
          <a:p>
            <a:pPr>
              <a:spcAft>
                <a:spcPts val="800"/>
              </a:spcAft>
              <a:defRPr sz="2000">
                <a:solidFill>
                  <a:srgbClr val="FFFFFF"/>
                </a:solidFill>
              </a:defRPr>
            </a:pPr>
            <a:r>
              <a:t>• 打つたびに、何が表示されたか確認</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14444"/>
        </a:solidFill>
        <a:effectLst/>
      </p:bgPr>
    </p:bg>
    <p:spTree>
      <p:nvGrpSpPr>
        <p:cNvPr id="1" name=""/>
        <p:cNvGrpSpPr/>
        <p:nvPr/>
      </p:nvGrpSpPr>
      <p:grpSpPr/>
      <p:sp>
        <p:nvSpPr>
          <p:cNvPr id="2" name="TextBox 1"/>
          <p:cNvSpPr txBox="1"/>
          <p:nvPr/>
        </p:nvSpPr>
        <p:spPr>
          <a:xfrm>
            <a:off x="731520" y="365760"/>
            <a:ext cx="10058400" cy="914400"/>
          </a:xfrm>
          <a:prstGeom prst="rect">
            <a:avLst/>
          </a:prstGeom>
          <a:noFill/>
        </p:spPr>
        <p:txBody>
          <a:bodyPr wrap="square">
            <a:spAutoFit/>
          </a:bodyPr>
          <a:lstStyle/>
          <a:p>
            <a:pPr algn="l">
              <a:defRPr sz="3200" b="1">
                <a:solidFill>
                  <a:srgbClr val="FFE135"/>
                </a:solidFill>
              </a:defRPr>
            </a:pPr>
            <a:r>
              <a:t>git clone — コマンド1行でプロジェクトをダウンロード</a:t>
            </a:r>
          </a:p>
        </p:txBody>
      </p:sp>
      <p:sp>
        <p:nvSpPr>
          <p:cNvPr id="3" name="TextBox 2"/>
          <p:cNvSpPr txBox="1"/>
          <p:nvPr/>
        </p:nvSpPr>
        <p:spPr>
          <a:xfrm>
            <a:off x="731520" y="1828800"/>
            <a:ext cx="10058400" cy="3657600"/>
          </a:xfrm>
          <a:prstGeom prst="rect">
            <a:avLst/>
          </a:prstGeom>
          <a:solidFill>
            <a:srgbClr val="0D0D0D"/>
          </a:solidFill>
        </p:spPr>
        <p:txBody>
          <a:bodyPr wrap="square">
            <a:spAutoFit/>
          </a:bodyPr>
          <a:lstStyle/>
          <a:p>
            <a:pPr>
              <a:defRPr sz="1400">
                <a:solidFill>
                  <a:srgbClr val="00FF88"/>
                </a:solidFill>
                <a:latin typeface="Menlo"/>
              </a:defRPr>
            </a:pPr>
            <a:r>
              <a:t>   git clone https://github.com/azunyanchannel/azunyan.hp.git</a:t>
            </a:r>
            <a:br/>
            <a:r>
              <a:t>   cd azunyan.hp</a:t>
            </a:r>
            <a:br/>
            <a:r>
              <a:t>   ls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14444"/>
        </a:solidFill>
        <a:effectLst/>
      </p:bgPr>
    </p:bg>
    <p:spTree>
      <p:nvGrpSpPr>
        <p:cNvPr id="1" name=""/>
        <p:cNvGrpSpPr/>
        <p:nvPr/>
      </p:nvGrpSpPr>
      <p:grpSpPr/>
      <p:sp>
        <p:nvSpPr>
          <p:cNvPr id="2" name="TextBox 1"/>
          <p:cNvSpPr txBox="1"/>
          <p:nvPr/>
        </p:nvSpPr>
        <p:spPr>
          <a:xfrm>
            <a:off x="731520" y="365760"/>
            <a:ext cx="10058400" cy="914400"/>
          </a:xfrm>
          <a:prstGeom prst="rect">
            <a:avLst/>
          </a:prstGeom>
          <a:noFill/>
        </p:spPr>
        <p:txBody>
          <a:bodyPr wrap="square">
            <a:spAutoFit/>
          </a:bodyPr>
          <a:lstStyle/>
          <a:p>
            <a:pPr algn="l">
              <a:defRPr sz="3200" b="1">
                <a:solidFill>
                  <a:srgbClr val="FFE135"/>
                </a:solidFill>
              </a:defRPr>
            </a:pPr>
            <a:r>
              <a:t>✅ チェックポイント</a:t>
            </a:r>
          </a:p>
        </p:txBody>
      </p:sp>
      <p:sp>
        <p:nvSpPr>
          <p:cNvPr id="3" name="TextBox 2"/>
          <p:cNvSpPr txBox="1"/>
          <p:nvPr/>
        </p:nvSpPr>
        <p:spPr>
          <a:xfrm>
            <a:off x="731520" y="1371600"/>
            <a:ext cx="6400800" cy="3657600"/>
          </a:xfrm>
          <a:prstGeom prst="rect">
            <a:avLst/>
          </a:prstGeom>
          <a:noFill/>
        </p:spPr>
        <p:txBody>
          <a:bodyPr wrap="square">
            <a:spAutoFit/>
          </a:bodyPr>
          <a:lstStyle/>
          <a:p>
            <a:pPr algn="l">
              <a:spcAft>
                <a:spcPts val="800"/>
              </a:spcAft>
              <a:defRPr sz="2000" b="0">
                <a:solidFill>
                  <a:srgbClr val="FFFFFF"/>
                </a:solidFill>
              </a:defRPr>
            </a:pPr>
            <a:r>
              <a:t>• 「Terminal で自分のサイトを clone できた！」</a:t>
            </a:r>
          </a:p>
          <a:p>
            <a:pPr>
              <a:spcAft>
                <a:spcPts val="800"/>
              </a:spcAft>
              <a:defRPr sz="2000">
                <a:solidFill>
                  <a:srgbClr val="FFFFFF"/>
                </a:solidFill>
              </a:defRPr>
            </a:pPr>
            <a:r>
              <a:t>• Terminal 基本コマンド3つ：pwd / ls / cd</a:t>
            </a:r>
          </a:p>
          <a:p>
            <a:pPr>
              <a:spcAft>
                <a:spcPts val="800"/>
              </a:spcAft>
              <a:defRPr sz="2000">
                <a:solidFill>
                  <a:srgbClr val="FFFFFF"/>
                </a:solidFill>
              </a:defRPr>
            </a:pPr>
            <a:r>
              <a:t>• ここまでOK？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442211"/>
        </a:solidFill>
        <a:effectLst/>
      </p:bgPr>
    </p:bg>
    <p:spTree>
      <p:nvGrpSpPr>
        <p:cNvPr id="1" name=""/>
        <p:cNvGrpSpPr/>
        <p:nvPr/>
      </p:nvGrpSpPr>
      <p:grpSpPr/>
      <p:sp>
        <p:nvSpPr>
          <p:cNvPr id="2" name="TextBox 1"/>
          <p:cNvSpPr txBox="1"/>
          <p:nvPr/>
        </p:nvSpPr>
        <p:spPr>
          <a:xfrm>
            <a:off x="914400" y="1828800"/>
            <a:ext cx="10058400" cy="1828800"/>
          </a:xfrm>
          <a:prstGeom prst="rect">
            <a:avLst/>
          </a:prstGeom>
          <a:noFill/>
        </p:spPr>
        <p:txBody>
          <a:bodyPr wrap="square">
            <a:spAutoFit/>
          </a:bodyPr>
          <a:lstStyle/>
          <a:p>
            <a:pPr algn="ctr">
              <a:defRPr sz="4000" b="1">
                <a:solidFill>
                  <a:srgbClr val="FFE135"/>
                </a:solidFill>
              </a:defRPr>
            </a:pPr>
            <a:r>
              <a:t>Block 3 ▸ メイン②：Git コアサイクル</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442211"/>
        </a:solidFill>
        <a:effectLst/>
      </p:bgPr>
    </p:bg>
    <p:spTree>
      <p:nvGrpSpPr>
        <p:cNvPr id="1" name=""/>
        <p:cNvGrpSpPr/>
        <p:nvPr/>
      </p:nvGrpSpPr>
      <p:grpSpPr/>
      <p:sp>
        <p:nvSpPr>
          <p:cNvPr id="2" name="TextBox 1"/>
          <p:cNvSpPr txBox="1"/>
          <p:nvPr/>
        </p:nvSpPr>
        <p:spPr>
          <a:xfrm>
            <a:off x="731520" y="365760"/>
            <a:ext cx="10058400" cy="914400"/>
          </a:xfrm>
          <a:prstGeom prst="rect">
            <a:avLst/>
          </a:prstGeom>
          <a:noFill/>
        </p:spPr>
        <p:txBody>
          <a:bodyPr wrap="square">
            <a:spAutoFit/>
          </a:bodyPr>
          <a:lstStyle/>
          <a:p>
            <a:pPr algn="l">
              <a:defRPr sz="3200" b="1">
                <a:solidFill>
                  <a:srgbClr val="FFE135"/>
                </a:solidFill>
              </a:defRPr>
            </a:pPr>
            <a:r>
              <a:t>まず何か変えてみよう</a:t>
            </a:r>
          </a:p>
        </p:txBody>
      </p:sp>
      <p:sp>
        <p:nvSpPr>
          <p:cNvPr id="3" name="TextBox 2"/>
          <p:cNvSpPr txBox="1"/>
          <p:nvPr/>
        </p:nvSpPr>
        <p:spPr>
          <a:xfrm>
            <a:off x="731520" y="1371600"/>
            <a:ext cx="6400800" cy="3657600"/>
          </a:xfrm>
          <a:prstGeom prst="rect">
            <a:avLst/>
          </a:prstGeom>
          <a:noFill/>
        </p:spPr>
        <p:txBody>
          <a:bodyPr wrap="square">
            <a:spAutoFit/>
          </a:bodyPr>
          <a:lstStyle/>
          <a:p>
            <a:pPr algn="l">
              <a:spcAft>
                <a:spcPts val="800"/>
              </a:spcAft>
              <a:defRPr sz="2000" b="0">
                <a:solidFill>
                  <a:srgbClr val="FFFFFF"/>
                </a:solidFill>
              </a:defRPr>
            </a:pPr>
            <a:r>
              <a:t>• Terminal で：open . → Finder でフォルダを開く</a:t>
            </a:r>
          </a:p>
          <a:p>
            <a:pPr>
              <a:spcAft>
                <a:spcPts val="800"/>
              </a:spcAft>
              <a:defRPr sz="2000">
                <a:solidFill>
                  <a:srgbClr val="FFFFFF"/>
                </a:solidFill>
              </a:defRPr>
            </a:pPr>
            <a:r>
              <a:t>• いつもの編集ソフトで index.html を開く</a:t>
            </a:r>
          </a:p>
          <a:p>
            <a:pPr>
              <a:spcAft>
                <a:spcPts val="800"/>
              </a:spcAft>
              <a:defRPr sz="2000">
                <a:solidFill>
                  <a:srgbClr val="FFFFFF"/>
                </a:solidFill>
              </a:defRPr>
            </a:pPr>
            <a:r>
              <a:t>• 何を変えるかは自分で選んでもらう：</a:t>
            </a:r>
          </a:p>
          <a:p>
            <a:pPr>
              <a:spcAft>
                <a:spcPts val="800"/>
              </a:spcAft>
              <a:defRPr sz="2000">
                <a:solidFill>
                  <a:srgbClr val="FFFFFF"/>
                </a:solidFill>
              </a:defRPr>
            </a:pPr>
            <a:r>
              <a:t>• タイトルの文字を変える</a:t>
            </a:r>
          </a:p>
          <a:p>
            <a:pPr>
              <a:spcAft>
                <a:spcPts val="800"/>
              </a:spcAft>
              <a:defRPr sz="2000">
                <a:solidFill>
                  <a:srgbClr val="FFFFFF"/>
                </a:solidFill>
              </a:defRPr>
            </a:pPr>
            <a:r>
              <a:t>• CSS の色を変える</a:t>
            </a:r>
          </a:p>
          <a:p>
            <a:pPr>
              <a:spcAft>
                <a:spcPts val="800"/>
              </a:spcAft>
              <a:defRPr sz="2000">
                <a:solidFill>
                  <a:srgbClr val="FFFFFF"/>
                </a:solidFill>
              </a:defRPr>
            </a:pPr>
            <a:r>
              <a:t>• 一文追加する</a:t>
            </a:r>
          </a:p>
          <a:p>
            <a:pPr>
              <a:spcAft>
                <a:spcPts val="800"/>
              </a:spcAft>
              <a:defRPr sz="2000">
                <a:solidFill>
                  <a:srgbClr val="FFFFFF"/>
                </a:solidFill>
              </a:defRPr>
            </a:pPr>
            <a:r>
              <a:t>• 保存 Cmd + 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442211"/>
        </a:solidFill>
        <a:effectLst/>
      </p:bgPr>
    </p:bg>
    <p:spTree>
      <p:nvGrpSpPr>
        <p:cNvPr id="1" name=""/>
        <p:cNvGrpSpPr/>
        <p:nvPr/>
      </p:nvGrpSpPr>
      <p:grpSpPr/>
      <p:sp>
        <p:nvSpPr>
          <p:cNvPr id="2" name="TextBox 1"/>
          <p:cNvSpPr txBox="1"/>
          <p:nvPr/>
        </p:nvSpPr>
        <p:spPr>
          <a:xfrm>
            <a:off x="731520" y="365760"/>
            <a:ext cx="10058400" cy="914400"/>
          </a:xfrm>
          <a:prstGeom prst="rect">
            <a:avLst/>
          </a:prstGeom>
          <a:noFill/>
        </p:spPr>
        <p:txBody>
          <a:bodyPr wrap="square">
            <a:spAutoFit/>
          </a:bodyPr>
          <a:lstStyle/>
          <a:p>
            <a:pPr algn="l">
              <a:defRPr sz="3200" b="1">
                <a:solidFill>
                  <a:srgbClr val="FFE135"/>
                </a:solidFill>
              </a:defRPr>
            </a:pPr>
            <a:r>
              <a:t>Git に「今どうなってる？」って聞いてみよう</a:t>
            </a:r>
          </a:p>
        </p:txBody>
      </p:sp>
      <p:sp>
        <p:nvSpPr>
          <p:cNvPr id="3" name="TextBox 2"/>
          <p:cNvSpPr txBox="1"/>
          <p:nvPr/>
        </p:nvSpPr>
        <p:spPr>
          <a:xfrm>
            <a:off x="731520" y="1371600"/>
            <a:ext cx="6400800" cy="3657600"/>
          </a:xfrm>
          <a:prstGeom prst="rect">
            <a:avLst/>
          </a:prstGeom>
          <a:noFill/>
        </p:spPr>
        <p:txBody>
          <a:bodyPr wrap="square">
            <a:spAutoFit/>
          </a:bodyPr>
          <a:lstStyle/>
          <a:p>
            <a:pPr algn="l">
              <a:spcAft>
                <a:spcPts val="800"/>
              </a:spcAft>
              <a:defRPr sz="2000" b="0">
                <a:solidFill>
                  <a:srgbClr val="FFFFFF"/>
                </a:solidFill>
              </a:defRPr>
            </a:pPr>
            <a:r>
              <a:t>• 赤 = Git が「ねえ、変更があるけど、セーブする？」って言ってる</a:t>
            </a:r>
          </a:p>
          <a:p>
            <a:pPr>
              <a:spcAft>
                <a:spcPts val="800"/>
              </a:spcAft>
              <a:defRPr sz="2000">
                <a:solidFill>
                  <a:srgbClr val="FFFFFF"/>
                </a:solidFill>
              </a:defRPr>
            </a:pPr>
            <a:r>
              <a:t>• 🎮 ゲームで「未保存の進行状況があります！」って出るのと同じ</a:t>
            </a:r>
          </a:p>
        </p:txBody>
      </p:sp>
      <p:sp>
        <p:nvSpPr>
          <p:cNvPr id="4" name="TextBox 3"/>
          <p:cNvSpPr txBox="1"/>
          <p:nvPr/>
        </p:nvSpPr>
        <p:spPr>
          <a:xfrm>
            <a:off x="731520" y="2194560"/>
            <a:ext cx="10058400" cy="3657600"/>
          </a:xfrm>
          <a:prstGeom prst="rect">
            <a:avLst/>
          </a:prstGeom>
          <a:solidFill>
            <a:srgbClr val="0D0D0D"/>
          </a:solidFill>
        </p:spPr>
        <p:txBody>
          <a:bodyPr wrap="square">
            <a:spAutoFit/>
          </a:bodyPr>
          <a:lstStyle/>
          <a:p>
            <a:pPr>
              <a:defRPr sz="1400">
                <a:solidFill>
                  <a:srgbClr val="00FF88"/>
                </a:solidFill>
                <a:latin typeface="Menlo"/>
              </a:defRPr>
            </a:pPr>
            <a:r>
              <a:t>$ git status</a:t>
            </a:r>
            <a:br/>
            <a:br/>
            <a:r>
              <a:t>  modified:   index.html    ← 赤い！</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442211"/>
        </a:solidFill>
        <a:effectLst/>
      </p:bgPr>
    </p:bg>
    <p:spTree>
      <p:nvGrpSpPr>
        <p:cNvPr id="1" name=""/>
        <p:cNvGrpSpPr/>
        <p:nvPr/>
      </p:nvGrpSpPr>
      <p:grpSpPr/>
      <p:sp>
        <p:nvSpPr>
          <p:cNvPr id="2" name="TextBox 1"/>
          <p:cNvSpPr txBox="1"/>
          <p:nvPr/>
        </p:nvSpPr>
        <p:spPr>
          <a:xfrm>
            <a:off x="731520" y="365760"/>
            <a:ext cx="10058400" cy="914400"/>
          </a:xfrm>
          <a:prstGeom prst="rect">
            <a:avLst/>
          </a:prstGeom>
          <a:noFill/>
        </p:spPr>
        <p:txBody>
          <a:bodyPr wrap="square">
            <a:spAutoFit/>
          </a:bodyPr>
          <a:lstStyle/>
          <a:p>
            <a:pPr algn="l">
              <a:defRPr sz="3200" b="1">
                <a:solidFill>
                  <a:srgbClr val="FFE135"/>
                </a:solidFill>
              </a:defRPr>
            </a:pPr>
            <a:r>
              <a:t>セーブするものを選ぼう</a:t>
            </a:r>
          </a:p>
        </p:txBody>
      </p:sp>
      <p:sp>
        <p:nvSpPr>
          <p:cNvPr id="3" name="TextBox 2"/>
          <p:cNvSpPr txBox="1"/>
          <p:nvPr/>
        </p:nvSpPr>
        <p:spPr>
          <a:xfrm>
            <a:off x="731520" y="1371600"/>
            <a:ext cx="6400800" cy="3657600"/>
          </a:xfrm>
          <a:prstGeom prst="rect">
            <a:avLst/>
          </a:prstGeom>
          <a:noFill/>
        </p:spPr>
        <p:txBody>
          <a:bodyPr wrap="square">
            <a:spAutoFit/>
          </a:bodyPr>
          <a:lstStyle/>
          <a:p>
            <a:pPr algn="l">
              <a:spcAft>
                <a:spcPts val="800"/>
              </a:spcAft>
              <a:defRPr sz="2000" b="0">
                <a:solidFill>
                  <a:srgbClr val="FFFFFF"/>
                </a:solidFill>
              </a:defRPr>
            </a:pPr>
            <a:r>
              <a:t>• 赤 → 緑 = チェック済み、セーブ準備OK</a:t>
            </a:r>
          </a:p>
          <a:p>
            <a:pPr>
              <a:spcAft>
                <a:spcPts val="800"/>
              </a:spcAft>
              <a:defRPr sz="2000">
                <a:solidFill>
                  <a:srgbClr val="FFFFFF"/>
                </a:solidFill>
              </a:defRPr>
            </a:pPr>
            <a:r>
              <a:t>• 🎮 どのセーブスロットにするか選んだ感じ</a:t>
            </a:r>
          </a:p>
        </p:txBody>
      </p:sp>
      <p:sp>
        <p:nvSpPr>
          <p:cNvPr id="4" name="TextBox 3"/>
          <p:cNvSpPr txBox="1"/>
          <p:nvPr/>
        </p:nvSpPr>
        <p:spPr>
          <a:xfrm>
            <a:off x="731520" y="2194560"/>
            <a:ext cx="10058400" cy="3657600"/>
          </a:xfrm>
          <a:prstGeom prst="rect">
            <a:avLst/>
          </a:prstGeom>
          <a:solidFill>
            <a:srgbClr val="0D0D0D"/>
          </a:solidFill>
        </p:spPr>
        <p:txBody>
          <a:bodyPr wrap="square">
            <a:spAutoFit/>
          </a:bodyPr>
          <a:lstStyle/>
          <a:p>
            <a:pPr>
              <a:defRPr sz="1400">
                <a:solidFill>
                  <a:srgbClr val="00FF88"/>
                </a:solidFill>
                <a:latin typeface="Menlo"/>
              </a:defRPr>
            </a:pPr>
            <a:r>
              <a:t>$ git add .         ← この . = 「全部」って意味</a:t>
            </a:r>
            <a:br/>
            <a:r>
              <a:t>$ git status</a:t>
            </a:r>
            <a:br/>
            <a:br/>
            <a:r>
              <a:t>  modified:   index.html    ← 緑になった！</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442211"/>
        </a:solidFill>
        <a:effectLst/>
      </p:bgPr>
    </p:bg>
    <p:spTree>
      <p:nvGrpSpPr>
        <p:cNvPr id="1" name=""/>
        <p:cNvGrpSpPr/>
        <p:nvPr/>
      </p:nvGrpSpPr>
      <p:grpSpPr/>
      <p:sp>
        <p:nvSpPr>
          <p:cNvPr id="2" name="TextBox 1"/>
          <p:cNvSpPr txBox="1"/>
          <p:nvPr/>
        </p:nvSpPr>
        <p:spPr>
          <a:xfrm>
            <a:off x="731520" y="365760"/>
            <a:ext cx="10058400" cy="914400"/>
          </a:xfrm>
          <a:prstGeom prst="rect">
            <a:avLst/>
          </a:prstGeom>
          <a:noFill/>
        </p:spPr>
        <p:txBody>
          <a:bodyPr wrap="square">
            <a:spAutoFit/>
          </a:bodyPr>
          <a:lstStyle/>
          <a:p>
            <a:pPr algn="l">
              <a:defRPr sz="3200" b="1">
                <a:solidFill>
                  <a:srgbClr val="FFE135"/>
                </a:solidFill>
              </a:defRPr>
            </a:pPr>
            <a:r>
              <a:t>🎮 セーブボタンを押す</a:t>
            </a:r>
          </a:p>
        </p:txBody>
      </p:sp>
      <p:sp>
        <p:nvSpPr>
          <p:cNvPr id="3" name="TextBox 2"/>
          <p:cNvSpPr txBox="1"/>
          <p:nvPr/>
        </p:nvSpPr>
        <p:spPr>
          <a:xfrm>
            <a:off x="731520" y="1371600"/>
            <a:ext cx="6400800" cy="3657600"/>
          </a:xfrm>
          <a:prstGeom prst="rect">
            <a:avLst/>
          </a:prstGeom>
          <a:noFill/>
        </p:spPr>
        <p:txBody>
          <a:bodyPr wrap="square">
            <a:spAutoFit/>
          </a:bodyPr>
          <a:lstStyle/>
          <a:p>
            <a:pPr algn="l">
              <a:spcAft>
                <a:spcPts val="800"/>
              </a:spcAft>
              <a:defRPr sz="2000" b="0">
                <a:solidFill>
                  <a:srgbClr val="FFFFFF"/>
                </a:solidFill>
              </a:defRPr>
            </a:pPr>
            <a:r>
              <a:t>• -m の後ろ = 未来の自分へのメモ</a:t>
            </a:r>
          </a:p>
          <a:p>
            <a:pPr>
              <a:spcAft>
                <a:spcPts val="800"/>
              </a:spcAft>
              <a:defRPr sz="2000">
                <a:solidFill>
                  <a:srgbClr val="FFFFFF"/>
                </a:solidFill>
              </a:defRPr>
            </a:pPr>
            <a:r>
              <a:t>• commit メッセージは日本語でも中国語でも全然OK</a:t>
            </a:r>
          </a:p>
          <a:p>
            <a:pPr>
              <a:spcAft>
                <a:spcPts val="800"/>
              </a:spcAft>
              <a:defRPr sz="2000">
                <a:solidFill>
                  <a:srgbClr val="FFFFFF"/>
                </a:solidFill>
              </a:defRPr>
            </a:pPr>
            <a:r>
              <a:t>• 自分で commit メッセージを書いてもらう</a:t>
            </a:r>
          </a:p>
        </p:txBody>
      </p:sp>
      <p:sp>
        <p:nvSpPr>
          <p:cNvPr id="4" name="TextBox 3"/>
          <p:cNvSpPr txBox="1"/>
          <p:nvPr/>
        </p:nvSpPr>
        <p:spPr>
          <a:xfrm>
            <a:off x="731520" y="2606040"/>
            <a:ext cx="10058400" cy="3657600"/>
          </a:xfrm>
          <a:prstGeom prst="rect">
            <a:avLst/>
          </a:prstGeom>
          <a:solidFill>
            <a:srgbClr val="0D0D0D"/>
          </a:solidFill>
        </p:spPr>
        <p:txBody>
          <a:bodyPr wrap="square">
            <a:spAutoFit/>
          </a:bodyPr>
          <a:lstStyle/>
          <a:p>
            <a:pPr>
              <a:defRPr sz="1400">
                <a:solidFill>
                  <a:srgbClr val="00FF88"/>
                </a:solidFill>
                <a:latin typeface="Menlo"/>
              </a:defRPr>
            </a:pPr>
            <a:r>
              <a:t>$ git commit -m "トップページのタイトルを変更"</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442211"/>
        </a:solidFill>
        <a:effectLst/>
      </p:bgPr>
    </p:bg>
    <p:spTree>
      <p:nvGrpSpPr>
        <p:cNvPr id="1" name=""/>
        <p:cNvGrpSpPr/>
        <p:nvPr/>
      </p:nvGrpSpPr>
      <p:grpSpPr/>
      <p:sp>
        <p:nvSpPr>
          <p:cNvPr id="2" name="TextBox 1"/>
          <p:cNvSpPr txBox="1"/>
          <p:nvPr/>
        </p:nvSpPr>
        <p:spPr>
          <a:xfrm>
            <a:off x="731520" y="365760"/>
            <a:ext cx="10058400" cy="914400"/>
          </a:xfrm>
          <a:prstGeom prst="rect">
            <a:avLst/>
          </a:prstGeom>
          <a:noFill/>
        </p:spPr>
        <p:txBody>
          <a:bodyPr wrap="square">
            <a:spAutoFit/>
          </a:bodyPr>
          <a:lstStyle/>
          <a:p>
            <a:pPr algn="l">
              <a:defRPr sz="3200" b="1">
                <a:solidFill>
                  <a:srgbClr val="FFE135"/>
                </a:solidFill>
              </a:defRPr>
            </a:pPr>
            <a:r>
              <a:t>🚀 Push！</a:t>
            </a:r>
          </a:p>
        </p:txBody>
      </p:sp>
      <p:sp>
        <p:nvSpPr>
          <p:cNvPr id="3" name="TextBox 2"/>
          <p:cNvSpPr txBox="1"/>
          <p:nvPr/>
        </p:nvSpPr>
        <p:spPr>
          <a:xfrm>
            <a:off x="731520" y="1371600"/>
            <a:ext cx="6400800" cy="3657600"/>
          </a:xfrm>
          <a:prstGeom prst="rect">
            <a:avLst/>
          </a:prstGeom>
          <a:noFill/>
        </p:spPr>
        <p:txBody>
          <a:bodyPr wrap="square">
            <a:spAutoFit/>
          </a:bodyPr>
          <a:lstStyle/>
          <a:p>
            <a:pPr algn="l">
              <a:spcAft>
                <a:spcPts val="800"/>
              </a:spcAft>
              <a:defRPr sz="2000" b="0">
                <a:solidFill>
                  <a:srgbClr val="FFFFFF"/>
                </a:solidFill>
              </a:defRPr>
            </a:pPr>
            <a:r>
              <a:t>• すぐ GitHub のページを開いて → リロード</a:t>
            </a:r>
          </a:p>
          <a:p>
            <a:pPr>
              <a:spcAft>
                <a:spcPts val="800"/>
              </a:spcAft>
              <a:defRPr sz="2000">
                <a:solidFill>
                  <a:srgbClr val="FFFFFF"/>
                </a:solidFill>
              </a:defRPr>
            </a:pPr>
            <a:r>
              <a:t>• 変更がもう GitHub に反映されてる！</a:t>
            </a:r>
          </a:p>
          <a:p>
            <a:pPr>
              <a:spcAft>
                <a:spcPts val="800"/>
              </a:spcAft>
              <a:defRPr sz="2000">
                <a:solidFill>
                  <a:srgbClr val="FFFFFF"/>
                </a:solidFill>
              </a:defRPr>
            </a:pPr>
            <a:r>
              <a:t>• GitHub Pages を使ってるなら → サイトを開いて変更を確認</a:t>
            </a:r>
          </a:p>
        </p:txBody>
      </p:sp>
      <p:sp>
        <p:nvSpPr>
          <p:cNvPr id="4" name="TextBox 3"/>
          <p:cNvSpPr txBox="1"/>
          <p:nvPr/>
        </p:nvSpPr>
        <p:spPr>
          <a:xfrm>
            <a:off x="731520" y="2606040"/>
            <a:ext cx="10058400" cy="3657600"/>
          </a:xfrm>
          <a:prstGeom prst="rect">
            <a:avLst/>
          </a:prstGeom>
          <a:solidFill>
            <a:srgbClr val="0D0D0D"/>
          </a:solidFill>
        </p:spPr>
        <p:txBody>
          <a:bodyPr wrap="square">
            <a:spAutoFit/>
          </a:bodyPr>
          <a:lstStyle/>
          <a:p>
            <a:pPr>
              <a:defRPr sz="1400">
                <a:solidFill>
                  <a:srgbClr val="00FF88"/>
                </a:solidFill>
                <a:latin typeface="Menlo"/>
              </a:defRPr>
            </a:pPr>
            <a:r>
              <a:t>$ git push</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442211"/>
        </a:solidFill>
        <a:effectLst/>
      </p:bgPr>
    </p:bg>
    <p:spTree>
      <p:nvGrpSpPr>
        <p:cNvPr id="1" name=""/>
        <p:cNvGrpSpPr/>
        <p:nvPr/>
      </p:nvGrpSpPr>
      <p:grpSpPr/>
      <p:sp>
        <p:nvSpPr>
          <p:cNvPr id="2" name="TextBox 1"/>
          <p:cNvSpPr txBox="1"/>
          <p:nvPr/>
        </p:nvSpPr>
        <p:spPr>
          <a:xfrm>
            <a:off x="731520" y="365760"/>
            <a:ext cx="10058400" cy="914400"/>
          </a:xfrm>
          <a:prstGeom prst="rect">
            <a:avLst/>
          </a:prstGeom>
          <a:noFill/>
        </p:spPr>
        <p:txBody>
          <a:bodyPr wrap="square">
            <a:spAutoFit/>
          </a:bodyPr>
          <a:lstStyle/>
          <a:p>
            <a:pPr algn="l">
              <a:defRPr sz="3200" b="1">
                <a:solidFill>
                  <a:srgbClr val="FFE135"/>
                </a:solidFill>
              </a:defRPr>
            </a:pPr>
            <a:r>
              <a:t>このリズムを覚えよう：変更 → 選択 → セーブ → アップ</a:t>
            </a:r>
          </a:p>
        </p:txBody>
      </p:sp>
      <p:sp>
        <p:nvSpPr>
          <p:cNvPr id="3" name="TextBox 2"/>
          <p:cNvSpPr txBox="1"/>
          <p:nvPr/>
        </p:nvSpPr>
        <p:spPr>
          <a:xfrm>
            <a:off x="731520" y="1371600"/>
            <a:ext cx="6400800" cy="3657600"/>
          </a:xfrm>
          <a:prstGeom prst="rect">
            <a:avLst/>
          </a:prstGeom>
          <a:noFill/>
        </p:spPr>
        <p:txBody>
          <a:bodyPr wrap="square">
            <a:spAutoFit/>
          </a:bodyPr>
          <a:lstStyle/>
          <a:p>
            <a:pPr algn="l">
              <a:spcAft>
                <a:spcPts val="800"/>
              </a:spcAft>
              <a:defRPr sz="2000" b="0">
                <a:solidFill>
                  <a:srgbClr val="FFFFFF"/>
                </a:solidFill>
              </a:defRPr>
            </a:pPr>
            <a:r>
              <a:t>• 4ステップ。もうできるようになったよ。</a:t>
            </a:r>
          </a:p>
          <a:p>
            <a:pPr>
              <a:spcAft>
                <a:spcPts val="800"/>
              </a:spcAft>
              <a:defRPr sz="2000">
                <a:solidFill>
                  <a:srgbClr val="FFFFFF"/>
                </a:solidFill>
              </a:defRPr>
            </a:pPr>
            <a:r>
              <a:t>• ✅ 「GitHub に push できた！！」🎉</a:t>
            </a:r>
          </a:p>
        </p:txBody>
      </p:sp>
      <p:sp>
        <p:nvSpPr>
          <p:cNvPr id="4" name="TextBox 3"/>
          <p:cNvSpPr txBox="1"/>
          <p:nvPr/>
        </p:nvSpPr>
        <p:spPr>
          <a:xfrm>
            <a:off x="731520" y="2194560"/>
            <a:ext cx="10058400" cy="3657600"/>
          </a:xfrm>
          <a:prstGeom prst="rect">
            <a:avLst/>
          </a:prstGeom>
          <a:solidFill>
            <a:srgbClr val="0D0D0D"/>
          </a:solidFill>
        </p:spPr>
        <p:txBody>
          <a:bodyPr wrap="square">
            <a:spAutoFit/>
          </a:bodyPr>
          <a:lstStyle/>
          <a:p>
            <a:pPr>
              <a:defRPr sz="1400">
                <a:solidFill>
                  <a:srgbClr val="00FF88"/>
                </a:solidFill>
                <a:latin typeface="Menlo"/>
              </a:defRPr>
            </a:pPr>
            <a:r>
              <a:t>変更する → git add . → git commit -m "メモ" → git push</a:t>
            </a:r>
            <a:br/>
            <a:r>
              <a:t>          （選ぶ）      （セーブ）             （アップ）</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13355"/>
        </a:solidFill>
        <a:effectLst/>
      </p:bgPr>
    </p:bg>
    <p:spTree>
      <p:nvGrpSpPr>
        <p:cNvPr id="1" name=""/>
        <p:cNvGrpSpPr/>
        <p:nvPr/>
      </p:nvGrpSpPr>
      <p:grpSpPr/>
      <p:sp>
        <p:nvSpPr>
          <p:cNvPr id="2" name="TextBox 1"/>
          <p:cNvSpPr txBox="1"/>
          <p:nvPr/>
        </p:nvSpPr>
        <p:spPr>
          <a:xfrm>
            <a:off x="914400" y="1828800"/>
            <a:ext cx="10058400" cy="1828800"/>
          </a:xfrm>
          <a:prstGeom prst="rect">
            <a:avLst/>
          </a:prstGeom>
          <a:noFill/>
        </p:spPr>
        <p:txBody>
          <a:bodyPr wrap="square">
            <a:spAutoFit/>
          </a:bodyPr>
          <a:lstStyle/>
          <a:p>
            <a:pPr algn="ctr">
              <a:defRPr sz="4000" b="1">
                <a:solidFill>
                  <a:srgbClr val="FFE135"/>
                </a:solidFill>
              </a:defRPr>
            </a:pPr>
            <a:r>
              <a:t>Block 4 ▸ サイド：休憩 + JS コンセプト + API コンセプト</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13355"/>
        </a:solidFill>
        <a:effectLst/>
      </p:bgPr>
    </p:bg>
    <p:spTree>
      <p:nvGrpSpPr>
        <p:cNvPr id="1" name=""/>
        <p:cNvGrpSpPr/>
        <p:nvPr/>
      </p:nvGrpSpPr>
      <p:grpSpPr/>
      <p:sp>
        <p:nvSpPr>
          <p:cNvPr id="2" name="TextBox 1"/>
          <p:cNvSpPr txBox="1"/>
          <p:nvPr/>
        </p:nvSpPr>
        <p:spPr>
          <a:xfrm>
            <a:off x="731520" y="365760"/>
            <a:ext cx="10058400" cy="914400"/>
          </a:xfrm>
          <a:prstGeom prst="rect">
            <a:avLst/>
          </a:prstGeom>
          <a:noFill/>
        </p:spPr>
        <p:txBody>
          <a:bodyPr wrap="square">
            <a:spAutoFit/>
          </a:bodyPr>
          <a:lstStyle/>
          <a:p>
            <a:pPr algn="l">
              <a:defRPr sz="3200" b="1">
                <a:solidFill>
                  <a:srgbClr val="FFE135"/>
                </a:solidFill>
              </a:defRPr>
            </a:pPr>
            <a:r>
              <a:t>5分休憩</a:t>
            </a:r>
          </a:p>
        </p:txBody>
      </p:sp>
      <p:sp>
        <p:nvSpPr>
          <p:cNvPr id="3" name="TextBox 2"/>
          <p:cNvSpPr txBox="1"/>
          <p:nvPr/>
        </p:nvSpPr>
        <p:spPr>
          <a:xfrm>
            <a:off x="731520" y="1371600"/>
            <a:ext cx="6400800" cy="3657600"/>
          </a:xfrm>
          <a:prstGeom prst="rect">
            <a:avLst/>
          </a:prstGeom>
          <a:noFill/>
        </p:spPr>
        <p:txBody>
          <a:bodyPr wrap="square">
            <a:spAutoFit/>
          </a:bodyPr>
          <a:lstStyle/>
          <a:p>
            <a:pPr algn="l">
              <a:spcAft>
                <a:spcPts val="800"/>
              </a:spcAft>
              <a:defRPr sz="2000" b="0">
                <a:solidFill>
                  <a:srgbClr val="FFFFFF"/>
                </a:solidFill>
              </a:defRPr>
            </a:pPr>
            <a:r>
              <a:t>• 立ち上がってストレッチ</a:t>
            </a:r>
          </a:p>
          <a:p>
            <a:pPr>
              <a:spcAft>
                <a:spcPts val="800"/>
              </a:spcAft>
              <a:defRPr sz="2000">
                <a:solidFill>
                  <a:srgbClr val="FFFFFF"/>
                </a:solidFill>
              </a:defRPr>
            </a:pPr>
            <a:r>
              <a:t>• 水分補給、お手洗い</a:t>
            </a:r>
          </a:p>
          <a:p>
            <a:pPr>
              <a:spcAft>
                <a:spcPts val="800"/>
              </a:spcAft>
              <a:defRPr sz="2000">
                <a:solidFill>
                  <a:srgbClr val="FFFFFF"/>
                </a:solidFill>
              </a:defRPr>
            </a:pPr>
            <a:r>
              <a:t>• ここは絶対スキップしない！脳がパンクしてるから。</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13355"/>
        </a:solidFill>
        <a:effectLst/>
      </p:bgPr>
    </p:bg>
    <p:spTree>
      <p:nvGrpSpPr>
        <p:cNvPr id="1" name=""/>
        <p:cNvGrpSpPr/>
        <p:nvPr/>
      </p:nvGrpSpPr>
      <p:grpSpPr/>
      <p:sp>
        <p:nvSpPr>
          <p:cNvPr id="2" name="TextBox 1"/>
          <p:cNvSpPr txBox="1"/>
          <p:nvPr/>
        </p:nvSpPr>
        <p:spPr>
          <a:xfrm>
            <a:off x="731520" y="365760"/>
            <a:ext cx="10058400" cy="914400"/>
          </a:xfrm>
          <a:prstGeom prst="rect">
            <a:avLst/>
          </a:prstGeom>
          <a:noFill/>
        </p:spPr>
        <p:txBody>
          <a:bodyPr wrap="square">
            <a:spAutoFit/>
          </a:bodyPr>
          <a:lstStyle/>
          <a:p>
            <a:pPr algn="l">
              <a:defRPr sz="3200" b="1">
                <a:solidFill>
                  <a:srgbClr val="FFE135"/>
                </a:solidFill>
              </a:defRPr>
            </a:pPr>
            <a:r>
              <a:t>JS って何？</a:t>
            </a:r>
          </a:p>
        </p:txBody>
      </p:sp>
      <p:sp>
        <p:nvSpPr>
          <p:cNvPr id="3" name="TextBox 2"/>
          <p:cNvSpPr txBox="1"/>
          <p:nvPr/>
        </p:nvSpPr>
        <p:spPr>
          <a:xfrm>
            <a:off x="731520" y="1371600"/>
            <a:ext cx="6400800" cy="3657600"/>
          </a:xfrm>
          <a:prstGeom prst="rect">
            <a:avLst/>
          </a:prstGeom>
          <a:noFill/>
        </p:spPr>
        <p:txBody>
          <a:bodyPr wrap="square">
            <a:spAutoFit/>
          </a:bodyPr>
          <a:lstStyle/>
          <a:p>
            <a:pPr algn="l">
              <a:spcAft>
                <a:spcPts val="800"/>
              </a:spcAft>
              <a:defRPr sz="2000" b="0">
                <a:solidFill>
                  <a:srgbClr val="FFFFFF"/>
                </a:solidFill>
              </a:defRPr>
            </a:pPr>
            <a:r>
              <a:t>• HTML = 骨組み（壁、棚）✅</a:t>
            </a:r>
          </a:p>
          <a:p>
            <a:pPr>
              <a:spcAft>
                <a:spcPts val="800"/>
              </a:spcAft>
              <a:defRPr sz="2000">
                <a:solidFill>
                  <a:srgbClr val="FFFFFF"/>
                </a:solidFill>
              </a:defRPr>
            </a:pPr>
            <a:r>
              <a:t>• CSS = 内装（ペンキ、照明）✅</a:t>
            </a:r>
          </a:p>
          <a:p>
            <a:pPr>
              <a:spcAft>
                <a:spcPts val="800"/>
              </a:spcAft>
              <a:defRPr sz="2000">
                <a:solidFill>
                  <a:srgbClr val="FFFFFF"/>
                </a:solidFill>
              </a:defRPr>
            </a:pPr>
            <a:r>
              <a:t>• JS = 電気設備（スイッチ押すと電気がつく） 👈</a:t>
            </a:r>
          </a:p>
          <a:p>
            <a:pPr>
              <a:spcAft>
                <a:spcPts val="800"/>
              </a:spcAft>
              <a:defRPr sz="2000">
                <a:solidFill>
                  <a:srgbClr val="FFFFFF"/>
                </a:solidFill>
              </a:defRPr>
            </a:pPr>
            <a:r>
              <a:t>• JS を使えば、サイトにこんな機能がつけられる：</a:t>
            </a:r>
          </a:p>
          <a:p>
            <a:pPr>
              <a:spcAft>
                <a:spcPts val="800"/>
              </a:spcAft>
              <a:defRPr sz="2000">
                <a:solidFill>
                  <a:srgbClr val="FFFFFF"/>
                </a:solidFill>
              </a:defRPr>
            </a:pPr>
            <a:r>
              <a:t>• 🌙 ダークモード切り替えボタン</a:t>
            </a:r>
          </a:p>
          <a:p>
            <a:pPr>
              <a:spcAft>
                <a:spcPts val="800"/>
              </a:spcAft>
              <a:defRPr sz="2000">
                <a:solidFill>
                  <a:srgbClr val="FFFFFF"/>
                </a:solidFill>
              </a:defRPr>
            </a:pPr>
            <a:r>
              <a:t>• 📋 スキルタグをクリックで展開</a:t>
            </a:r>
          </a:p>
          <a:p>
            <a:pPr>
              <a:spcAft>
                <a:spcPts val="800"/>
              </a:spcAft>
              <a:defRPr sz="2000">
                <a:solidFill>
                  <a:srgbClr val="FFFFFF"/>
                </a:solidFill>
              </a:defRPr>
            </a:pPr>
            <a:r>
              <a:t>• 📎 「リンクをコピー」ボタン</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13355"/>
        </a:solidFill>
        <a:effectLst/>
      </p:bgPr>
    </p:bg>
    <p:spTree>
      <p:nvGrpSpPr>
        <p:cNvPr id="1" name=""/>
        <p:cNvGrpSpPr/>
        <p:nvPr/>
      </p:nvGrpSpPr>
      <p:grpSpPr/>
      <p:sp>
        <p:nvSpPr>
          <p:cNvPr id="2" name="TextBox 1"/>
          <p:cNvSpPr txBox="1"/>
          <p:nvPr/>
        </p:nvSpPr>
        <p:spPr>
          <a:xfrm>
            <a:off x="731520" y="365760"/>
            <a:ext cx="10058400" cy="914400"/>
          </a:xfrm>
          <a:prstGeom prst="rect">
            <a:avLst/>
          </a:prstGeom>
          <a:noFill/>
        </p:spPr>
        <p:txBody>
          <a:bodyPr wrap="square">
            <a:spAutoFit/>
          </a:bodyPr>
          <a:lstStyle/>
          <a:p>
            <a:pPr algn="l">
              <a:defRPr sz="3200" b="1">
                <a:solidFill>
                  <a:srgbClr val="FFE135"/>
                </a:solidFill>
              </a:defRPr>
            </a:pPr>
            <a:r>
              <a:t>JS は全部このパターン</a:t>
            </a:r>
          </a:p>
        </p:txBody>
      </p:sp>
      <p:sp>
        <p:nvSpPr>
          <p:cNvPr id="3" name="TextBox 2"/>
          <p:cNvSpPr txBox="1"/>
          <p:nvPr/>
        </p:nvSpPr>
        <p:spPr>
          <a:xfrm>
            <a:off x="731520" y="1371600"/>
            <a:ext cx="6400800" cy="3657600"/>
          </a:xfrm>
          <a:prstGeom prst="rect">
            <a:avLst/>
          </a:prstGeom>
          <a:noFill/>
        </p:spPr>
        <p:txBody>
          <a:bodyPr wrap="square">
            <a:spAutoFit/>
          </a:bodyPr>
          <a:lstStyle/>
          <a:p>
            <a:pPr algn="l">
              <a:spcAft>
                <a:spcPts val="800"/>
              </a:spcAft>
              <a:defRPr sz="2000" b="0">
                <a:solidFill>
                  <a:srgbClr val="FFFFFF"/>
                </a:solidFill>
              </a:defRPr>
            </a:pPr>
            <a:r>
              <a:t>• 例：「ボタンがクリックされたら、ページ全体に、ダークモードを適用する」</a:t>
            </a:r>
          </a:p>
          <a:p>
            <a:pPr>
              <a:spcAft>
                <a:spcPts val="800"/>
              </a:spcAft>
              <a:defRPr sz="2000">
                <a:solidFill>
                  <a:srgbClr val="FFFFFF"/>
                </a:solidFill>
              </a:defRPr>
            </a:pPr>
            <a:r>
              <a:t>• 例：「マウスが画像の上に来たら、その画像を、ちょっと大きくする」</a:t>
            </a:r>
          </a:p>
          <a:p>
            <a:pPr>
              <a:spcAft>
                <a:spcPts val="800"/>
              </a:spcAft>
              <a:defRPr sz="2000">
                <a:solidFill>
                  <a:srgbClr val="FFFFFF"/>
                </a:solidFill>
              </a:defRPr>
            </a:pPr>
            <a:r>
              <a:t>• これからコードを見たら、この3つを自分に聞いてみて</a:t>
            </a:r>
          </a:p>
        </p:txBody>
      </p:sp>
      <p:sp>
        <p:nvSpPr>
          <p:cNvPr id="4" name="TextBox 3"/>
          <p:cNvSpPr txBox="1"/>
          <p:nvPr/>
        </p:nvSpPr>
        <p:spPr>
          <a:xfrm>
            <a:off x="731520" y="2606040"/>
            <a:ext cx="10058400" cy="3657600"/>
          </a:xfrm>
          <a:prstGeom prst="rect">
            <a:avLst/>
          </a:prstGeom>
          <a:solidFill>
            <a:srgbClr val="0D0D0D"/>
          </a:solidFill>
        </p:spPr>
        <p:txBody>
          <a:bodyPr wrap="square">
            <a:spAutoFit/>
          </a:bodyPr>
          <a:lstStyle/>
          <a:p>
            <a:pPr>
              <a:defRPr sz="1400">
                <a:solidFill>
                  <a:srgbClr val="00FF88"/>
                </a:solidFill>
                <a:latin typeface="Menlo"/>
              </a:defRPr>
            </a:pPr>
            <a:r>
              <a:t>「___（何が起きたら）、___（どの要素に）、___（何をする）」</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13355"/>
        </a:solidFill>
        <a:effectLst/>
      </p:bgPr>
    </p:bg>
    <p:spTree>
      <p:nvGrpSpPr>
        <p:cNvPr id="1" name=""/>
        <p:cNvGrpSpPr/>
        <p:nvPr/>
      </p:nvGrpSpPr>
      <p:grpSpPr/>
      <p:sp>
        <p:nvSpPr>
          <p:cNvPr id="2" name="TextBox 1"/>
          <p:cNvSpPr txBox="1"/>
          <p:nvPr/>
        </p:nvSpPr>
        <p:spPr>
          <a:xfrm>
            <a:off x="731520" y="365760"/>
            <a:ext cx="10058400" cy="914400"/>
          </a:xfrm>
          <a:prstGeom prst="rect">
            <a:avLst/>
          </a:prstGeom>
          <a:noFill/>
        </p:spPr>
        <p:txBody>
          <a:bodyPr wrap="square">
            <a:spAutoFit/>
          </a:bodyPr>
          <a:lstStyle/>
          <a:p>
            <a:pPr algn="l">
              <a:defRPr sz="3200" b="1">
                <a:solidFill>
                  <a:srgbClr val="FFE135"/>
                </a:solidFill>
              </a:defRPr>
            </a:pPr>
            <a:r>
              <a:t>API って要するにデリバリー 🍕</a:t>
            </a:r>
          </a:p>
        </p:txBody>
      </p:sp>
      <p:sp>
        <p:nvSpPr>
          <p:cNvPr id="3" name="TextBox 2"/>
          <p:cNvSpPr txBox="1"/>
          <p:nvPr/>
        </p:nvSpPr>
        <p:spPr>
          <a:xfrm>
            <a:off x="731520" y="1371600"/>
            <a:ext cx="6400800" cy="3657600"/>
          </a:xfrm>
          <a:prstGeom prst="rect">
            <a:avLst/>
          </a:prstGeom>
          <a:noFill/>
        </p:spPr>
        <p:txBody>
          <a:bodyPr wrap="square">
            <a:spAutoFit/>
          </a:bodyPr>
          <a:lstStyle/>
          <a:p>
            <a:pPr algn="l">
              <a:spcAft>
                <a:spcPts val="800"/>
              </a:spcAft>
              <a:defRPr sz="2000" b="0">
                <a:solidFill>
                  <a:srgbClr val="FFFFFF"/>
                </a:solidFill>
              </a:defRPr>
            </a:pPr>
            <a:r>
              <a:t>• UberEats で頼む時、キッチンがどうなってるかなんて気にしないよね</a:t>
            </a:r>
          </a:p>
          <a:p>
            <a:pPr>
              <a:spcAft>
                <a:spcPts val="800"/>
              </a:spcAft>
              <a:defRPr sz="2000">
                <a:solidFill>
                  <a:srgbClr val="FFFFFF"/>
                </a:solidFill>
              </a:defRPr>
            </a:pPr>
            <a:r>
              <a:t>• アプリで「これください」って言えば、料理が届く</a:t>
            </a:r>
          </a:p>
          <a:p>
            <a:pPr>
              <a:spcAft>
                <a:spcPts val="800"/>
              </a:spcAft>
              <a:defRPr sz="2000">
                <a:solidFill>
                  <a:srgbClr val="FFFFFF"/>
                </a:solidFill>
              </a:defRPr>
            </a:pPr>
            <a:r>
              <a:t>• API = 自分のプログラムから他のプログラムに「注文」を出す標準的な仕組み</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13355"/>
        </a:solidFill>
        <a:effectLst/>
      </p:bgPr>
    </p:bg>
    <p:spTree>
      <p:nvGrpSpPr>
        <p:cNvPr id="1" name=""/>
        <p:cNvGrpSpPr/>
        <p:nvPr/>
      </p:nvGrpSpPr>
      <p:grpSpPr/>
      <p:sp>
        <p:nvSpPr>
          <p:cNvPr id="2" name="TextBox 1"/>
          <p:cNvSpPr txBox="1"/>
          <p:nvPr/>
        </p:nvSpPr>
        <p:spPr>
          <a:xfrm>
            <a:off x="731520" y="365760"/>
            <a:ext cx="10058400" cy="914400"/>
          </a:xfrm>
          <a:prstGeom prst="rect">
            <a:avLst/>
          </a:prstGeom>
          <a:noFill/>
        </p:spPr>
        <p:txBody>
          <a:bodyPr wrap="square">
            <a:spAutoFit/>
          </a:bodyPr>
          <a:lstStyle/>
          <a:p>
            <a:pPr algn="l">
              <a:defRPr sz="3200" b="1">
                <a:solidFill>
                  <a:srgbClr val="FFE135"/>
                </a:solidFill>
              </a:defRPr>
            </a:pPr>
            <a:r>
              <a:t>はじめての API コール 🐕</a:t>
            </a:r>
          </a:p>
        </p:txBody>
      </p:sp>
      <p:sp>
        <p:nvSpPr>
          <p:cNvPr id="3" name="TextBox 2"/>
          <p:cNvSpPr txBox="1"/>
          <p:nvPr/>
        </p:nvSpPr>
        <p:spPr>
          <a:xfrm>
            <a:off x="731520" y="1371600"/>
            <a:ext cx="6400800" cy="3657600"/>
          </a:xfrm>
          <a:prstGeom prst="rect">
            <a:avLst/>
          </a:prstGeom>
          <a:noFill/>
        </p:spPr>
        <p:txBody>
          <a:bodyPr wrap="square">
            <a:spAutoFit/>
          </a:bodyPr>
          <a:lstStyle/>
          <a:p>
            <a:pPr algn="l">
              <a:spcAft>
                <a:spcPts val="800"/>
              </a:spcAft>
              <a:defRPr sz="2000" b="0">
                <a:solidFill>
                  <a:srgbClr val="FFFFFF"/>
                </a:solidFill>
              </a:defRPr>
            </a:pPr>
            <a:r>
              <a:t>• もう1つ試そう：https://api.dicebear.com/6.x/pixel-art/svg?seed=azunyan</a:t>
            </a:r>
          </a:p>
          <a:p>
            <a:pPr>
              <a:spcAft>
                <a:spcPts val="800"/>
              </a:spcAft>
              <a:defRPr sz="2000">
                <a:solidFill>
                  <a:srgbClr val="FFFFFF"/>
                </a:solidFill>
              </a:defRPr>
            </a:pPr>
            <a:r>
              <a:t>• → 自分の名前で生成されたドット絵アイコン！</a:t>
            </a:r>
          </a:p>
        </p:txBody>
      </p:sp>
      <p:sp>
        <p:nvSpPr>
          <p:cNvPr id="4" name="TextBox 3"/>
          <p:cNvSpPr txBox="1"/>
          <p:nvPr/>
        </p:nvSpPr>
        <p:spPr>
          <a:xfrm>
            <a:off x="731520" y="2194560"/>
            <a:ext cx="10058400" cy="3657600"/>
          </a:xfrm>
          <a:prstGeom prst="rect">
            <a:avLst/>
          </a:prstGeom>
          <a:solidFill>
            <a:srgbClr val="0D0D0D"/>
          </a:solidFill>
        </p:spPr>
        <p:txBody>
          <a:bodyPr wrap="square">
            <a:spAutoFit/>
          </a:bodyPr>
          <a:lstStyle/>
          <a:p>
            <a:pPr>
              <a:defRPr sz="1400">
                <a:solidFill>
                  <a:srgbClr val="00FF88"/>
                </a:solidFill>
                <a:latin typeface="Menlo"/>
              </a:defRPr>
            </a:pPr>
            <a:r>
              <a:t>   https://dog.ceo/api/breeds/image/random</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13355"/>
        </a:solidFill>
        <a:effectLst/>
      </p:bgPr>
    </p:bg>
    <p:spTree>
      <p:nvGrpSpPr>
        <p:cNvPr id="1" name=""/>
        <p:cNvGrpSpPr/>
        <p:nvPr/>
      </p:nvGrpSpPr>
      <p:grpSpPr/>
      <p:sp>
        <p:nvSpPr>
          <p:cNvPr id="2" name="TextBox 1"/>
          <p:cNvSpPr txBox="1"/>
          <p:nvPr/>
        </p:nvSpPr>
        <p:spPr>
          <a:xfrm>
            <a:off x="731520" y="365760"/>
            <a:ext cx="10058400" cy="914400"/>
          </a:xfrm>
          <a:prstGeom prst="rect">
            <a:avLst/>
          </a:prstGeom>
          <a:noFill/>
        </p:spPr>
        <p:txBody>
          <a:bodyPr wrap="square">
            <a:spAutoFit/>
          </a:bodyPr>
          <a:lstStyle/>
          <a:p>
            <a:pPr algn="l">
              <a:defRPr sz="3200" b="1">
                <a:solidFill>
                  <a:srgbClr val="FFE135"/>
                </a:solidFill>
              </a:defRPr>
            </a:pPr>
            <a:r>
              <a:t>✅ チェックポイント</a:t>
            </a:r>
          </a:p>
        </p:txBody>
      </p:sp>
      <p:sp>
        <p:nvSpPr>
          <p:cNvPr id="3" name="TextBox 2"/>
          <p:cNvSpPr txBox="1"/>
          <p:nvPr/>
        </p:nvSpPr>
        <p:spPr>
          <a:xfrm>
            <a:off x="731520" y="1371600"/>
            <a:ext cx="6400800" cy="3657600"/>
          </a:xfrm>
          <a:prstGeom prst="rect">
            <a:avLst/>
          </a:prstGeom>
          <a:noFill/>
        </p:spPr>
        <p:txBody>
          <a:bodyPr wrap="square">
            <a:spAutoFit/>
          </a:bodyPr>
          <a:lstStyle/>
          <a:p>
            <a:pPr algn="l">
              <a:spcAft>
                <a:spcPts val="800"/>
              </a:spcAft>
              <a:defRPr sz="2000" b="0">
                <a:solidFill>
                  <a:srgbClr val="FFFFFF"/>
                </a:solidFill>
              </a:defRPr>
            </a:pPr>
            <a:r>
              <a:t>• JS の黄金フォーミュラ：___したら、___に、___する</a:t>
            </a:r>
          </a:p>
          <a:p>
            <a:pPr>
              <a:spcAft>
                <a:spcPts val="800"/>
              </a:spcAft>
              <a:defRPr sz="2000">
                <a:solidFill>
                  <a:srgbClr val="FFFFFF"/>
                </a:solidFill>
              </a:defRPr>
            </a:pPr>
            <a:r>
              <a:t>• API = プログラムのデリバリーサービス</a:t>
            </a:r>
          </a:p>
          <a:p>
            <a:pPr>
              <a:spcAft>
                <a:spcPts val="800"/>
              </a:spcAft>
              <a:defRPr sz="2000">
                <a:solidFill>
                  <a:srgbClr val="FFFFFF"/>
                </a:solidFill>
              </a:defRPr>
            </a:pPr>
            <a:r>
              <a:t>• 「API を呼んだ！自分のアイコンも作れた！」</a:t>
            </a:r>
          </a:p>
          <a:p>
            <a:pPr>
              <a:spcAft>
                <a:spcPts val="800"/>
              </a:spcAft>
              <a:defRPr sz="2000">
                <a:solidFill>
                  <a:srgbClr val="FFFFFF"/>
                </a:solidFill>
              </a:defRPr>
            </a:pPr>
            <a:r>
              <a:t>• あなたの天気アプリも、IG も、Uber も毎日同じことやってるんだよ</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334411"/>
        </a:solidFill>
        <a:effectLst/>
      </p:bgPr>
    </p:bg>
    <p:spTree>
      <p:nvGrpSpPr>
        <p:cNvPr id="1" name=""/>
        <p:cNvGrpSpPr/>
        <p:nvPr/>
      </p:nvGrpSpPr>
      <p:grpSpPr/>
      <p:sp>
        <p:nvSpPr>
          <p:cNvPr id="2" name="TextBox 1"/>
          <p:cNvSpPr txBox="1"/>
          <p:nvPr/>
        </p:nvSpPr>
        <p:spPr>
          <a:xfrm>
            <a:off x="914400" y="1828800"/>
            <a:ext cx="10058400" cy="1828800"/>
          </a:xfrm>
          <a:prstGeom prst="rect">
            <a:avLst/>
          </a:prstGeom>
          <a:noFill/>
        </p:spPr>
        <p:txBody>
          <a:bodyPr wrap="square">
            <a:spAutoFit/>
          </a:bodyPr>
          <a:lstStyle/>
          <a:p>
            <a:pPr algn="ctr">
              <a:defRPr sz="4000" b="1">
                <a:solidFill>
                  <a:srgbClr val="FFE135"/>
                </a:solidFill>
              </a:defRPr>
            </a:pPr>
            <a:r>
              <a:t>Block 5 ▸ メイン③：Git 第2ラウンド + 履歴</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334411"/>
        </a:solidFill>
        <a:effectLst/>
      </p:bgPr>
    </p:bg>
    <p:spTree>
      <p:nvGrpSpPr>
        <p:cNvPr id="1" name=""/>
        <p:cNvGrpSpPr/>
        <p:nvPr/>
      </p:nvGrpSpPr>
      <p:grpSpPr/>
      <p:sp>
        <p:nvSpPr>
          <p:cNvPr id="2" name="TextBox 1"/>
          <p:cNvSpPr txBox="1"/>
          <p:nvPr/>
        </p:nvSpPr>
        <p:spPr>
          <a:xfrm>
            <a:off x="731520" y="365760"/>
            <a:ext cx="10058400" cy="914400"/>
          </a:xfrm>
          <a:prstGeom prst="rect">
            <a:avLst/>
          </a:prstGeom>
          <a:noFill/>
        </p:spPr>
        <p:txBody>
          <a:bodyPr wrap="square">
            <a:spAutoFit/>
          </a:bodyPr>
          <a:lstStyle/>
          <a:p>
            <a:pPr algn="l">
              <a:defRPr sz="3200" b="1">
                <a:solidFill>
                  <a:srgbClr val="FFE135"/>
                </a:solidFill>
              </a:defRPr>
            </a:pPr>
            <a:r>
              <a:t>Git サイクルを一人でやってみよう</a:t>
            </a:r>
          </a:p>
        </p:txBody>
      </p:sp>
      <p:sp>
        <p:nvSpPr>
          <p:cNvPr id="3" name="TextBox 2"/>
          <p:cNvSpPr txBox="1"/>
          <p:nvPr/>
        </p:nvSpPr>
        <p:spPr>
          <a:xfrm>
            <a:off x="731520" y="1371600"/>
            <a:ext cx="6400800" cy="3657600"/>
          </a:xfrm>
          <a:prstGeom prst="rect">
            <a:avLst/>
          </a:prstGeom>
          <a:noFill/>
        </p:spPr>
        <p:txBody>
          <a:bodyPr wrap="square">
            <a:spAutoFit/>
          </a:bodyPr>
          <a:lstStyle/>
          <a:p>
            <a:pPr algn="l">
              <a:spcAft>
                <a:spcPts val="800"/>
              </a:spcAft>
              <a:defRPr sz="2000" b="0">
                <a:solidFill>
                  <a:srgbClr val="FFFFFF"/>
                </a:solidFill>
              </a:defRPr>
            </a:pPr>
            <a:r>
              <a:t>• 何を変えるかは自分で選ぶ（CSS の色、テキスト、何でもOK）</a:t>
            </a:r>
          </a:p>
          <a:p>
            <a:pPr>
              <a:spcAft>
                <a:spcPts val="800"/>
              </a:spcAft>
              <a:defRPr sz="2000">
                <a:solidFill>
                  <a:srgbClr val="FFFFFF"/>
                </a:solidFill>
              </a:defRPr>
            </a:pPr>
            <a:r>
              <a:t>• 今回は Jones はあんまり喋らない、自分でやってもらう</a:t>
            </a:r>
          </a:p>
          <a:p>
            <a:pPr>
              <a:spcAft>
                <a:spcPts val="800"/>
              </a:spcAft>
              <a:defRPr sz="2000">
                <a:solidFill>
                  <a:srgbClr val="FFFFFF"/>
                </a:solidFill>
              </a:defRPr>
            </a:pPr>
            <a:r>
              <a:t>• 詰まった時だけヒントを出す</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334411"/>
        </a:solidFill>
        <a:effectLst/>
      </p:bgPr>
    </p:bg>
    <p:spTree>
      <p:nvGrpSpPr>
        <p:cNvPr id="1" name=""/>
        <p:cNvGrpSpPr/>
        <p:nvPr/>
      </p:nvGrpSpPr>
      <p:grpSpPr/>
      <p:sp>
        <p:nvSpPr>
          <p:cNvPr id="2" name="TextBox 1"/>
          <p:cNvSpPr txBox="1"/>
          <p:nvPr/>
        </p:nvSpPr>
        <p:spPr>
          <a:xfrm>
            <a:off x="731520" y="365760"/>
            <a:ext cx="10058400" cy="914400"/>
          </a:xfrm>
          <a:prstGeom prst="rect">
            <a:avLst/>
          </a:prstGeom>
          <a:noFill/>
        </p:spPr>
        <p:txBody>
          <a:bodyPr wrap="square">
            <a:spAutoFit/>
          </a:bodyPr>
          <a:lstStyle/>
          <a:p>
            <a:pPr algn="l">
              <a:defRPr sz="3200" b="1">
                <a:solidFill>
                  <a:srgbClr val="FFE135"/>
                </a:solidFill>
              </a:defRPr>
            </a:pPr>
            <a:r>
              <a:t>4ステップを歩き切ろう</a:t>
            </a:r>
          </a:p>
        </p:txBody>
      </p:sp>
      <p:sp>
        <p:nvSpPr>
          <p:cNvPr id="3" name="TextBox 2"/>
          <p:cNvSpPr txBox="1"/>
          <p:nvPr/>
        </p:nvSpPr>
        <p:spPr>
          <a:xfrm>
            <a:off x="731520" y="1371600"/>
            <a:ext cx="6400800" cy="3657600"/>
          </a:xfrm>
          <a:prstGeom prst="rect">
            <a:avLst/>
          </a:prstGeom>
          <a:noFill/>
        </p:spPr>
        <p:txBody>
          <a:bodyPr wrap="square">
            <a:spAutoFit/>
          </a:bodyPr>
          <a:lstStyle/>
          <a:p>
            <a:pPr algn="l">
              <a:spcAft>
                <a:spcPts val="800"/>
              </a:spcAft>
              <a:defRPr sz="2000" b="0">
                <a:solidFill>
                  <a:srgbClr val="FFFFFF"/>
                </a:solidFill>
              </a:defRPr>
            </a:pPr>
            <a:r>
              <a:t>• GitHub で確認 ✅</a:t>
            </a:r>
          </a:p>
          <a:p>
            <a:pPr>
              <a:spcAft>
                <a:spcPts val="800"/>
              </a:spcAft>
              <a:defRPr sz="2000">
                <a:solidFill>
                  <a:srgbClr val="FFFFFF"/>
                </a:solidFill>
              </a:defRPr>
            </a:pPr>
            <a:r>
              <a:t>• 「今、完全に自分の力でできたよ」</a:t>
            </a:r>
          </a:p>
        </p:txBody>
      </p:sp>
      <p:sp>
        <p:nvSpPr>
          <p:cNvPr id="4" name="TextBox 3"/>
          <p:cNvSpPr txBox="1"/>
          <p:nvPr/>
        </p:nvSpPr>
        <p:spPr>
          <a:xfrm>
            <a:off x="731520" y="2194560"/>
            <a:ext cx="10058400" cy="3657600"/>
          </a:xfrm>
          <a:prstGeom prst="rect">
            <a:avLst/>
          </a:prstGeom>
          <a:solidFill>
            <a:srgbClr val="0D0D0D"/>
          </a:solidFill>
        </p:spPr>
        <p:txBody>
          <a:bodyPr wrap="square">
            <a:spAutoFit/>
          </a:bodyPr>
          <a:lstStyle/>
          <a:p>
            <a:pPr>
              <a:defRPr sz="1400">
                <a:solidFill>
                  <a:srgbClr val="00FF88"/>
                </a:solidFill>
                <a:latin typeface="Menlo"/>
              </a:defRPr>
            </a:pPr>
            <a:r>
              <a:t>git status              ← 赤が見える</a:t>
            </a:r>
            <a:br/>
            <a:r>
              <a:t>git add .               ← 選択完了</a:t>
            </a:r>
            <a:br/>
            <a:r>
              <a:t>git commit -m "自分で書く"   ← セーブ</a:t>
            </a:r>
            <a:br/>
            <a:r>
              <a:t>git push                ← アップロード！</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334411"/>
        </a:solidFill>
        <a:effectLst/>
      </p:bgPr>
    </p:bg>
    <p:spTree>
      <p:nvGrpSpPr>
        <p:cNvPr id="1" name=""/>
        <p:cNvGrpSpPr/>
        <p:nvPr/>
      </p:nvGrpSpPr>
      <p:grpSpPr/>
      <p:sp>
        <p:nvSpPr>
          <p:cNvPr id="2" name="TextBox 1"/>
          <p:cNvSpPr txBox="1"/>
          <p:nvPr/>
        </p:nvSpPr>
        <p:spPr>
          <a:xfrm>
            <a:off x="731520" y="365760"/>
            <a:ext cx="10058400" cy="914400"/>
          </a:xfrm>
          <a:prstGeom prst="rect">
            <a:avLst/>
          </a:prstGeom>
          <a:noFill/>
        </p:spPr>
        <p:txBody>
          <a:bodyPr wrap="square">
            <a:spAutoFit/>
          </a:bodyPr>
          <a:lstStyle/>
          <a:p>
            <a:pPr algn="l">
              <a:defRPr sz="3200" b="1">
                <a:solidFill>
                  <a:srgbClr val="FFE135"/>
                </a:solidFill>
              </a:defRPr>
            </a:pPr>
            <a:r>
              <a:t>🎮 セーブ履歴を確認</a:t>
            </a:r>
          </a:p>
        </p:txBody>
      </p:sp>
      <p:sp>
        <p:nvSpPr>
          <p:cNvPr id="3" name="TextBox 2"/>
          <p:cNvSpPr txBox="1"/>
          <p:nvPr/>
        </p:nvSpPr>
        <p:spPr>
          <a:xfrm>
            <a:off x="731520" y="1371600"/>
            <a:ext cx="6400800" cy="3657600"/>
          </a:xfrm>
          <a:prstGeom prst="rect">
            <a:avLst/>
          </a:prstGeom>
          <a:noFill/>
        </p:spPr>
        <p:txBody>
          <a:bodyPr wrap="square">
            <a:spAutoFit/>
          </a:bodyPr>
          <a:lstStyle/>
          <a:p>
            <a:pPr algn="l">
              <a:spcAft>
                <a:spcPts val="800"/>
              </a:spcAft>
              <a:defRPr sz="2000" b="0">
                <a:solidFill>
                  <a:srgbClr val="FFFFFF"/>
                </a:solidFill>
              </a:defRPr>
            </a:pPr>
            <a:r>
              <a:t>• 1行 = セーブポイント1つ</a:t>
            </a:r>
          </a:p>
          <a:p>
            <a:pPr>
              <a:spcAft>
                <a:spcPts val="800"/>
              </a:spcAft>
              <a:defRPr sz="2000">
                <a:solidFill>
                  <a:srgbClr val="FFFFFF"/>
                </a:solidFill>
              </a:defRPr>
            </a:pPr>
            <a:r>
              <a:t>• 100回変更してもいつでも振り返れる</a:t>
            </a:r>
          </a:p>
        </p:txBody>
      </p:sp>
      <p:sp>
        <p:nvSpPr>
          <p:cNvPr id="4" name="TextBox 3"/>
          <p:cNvSpPr txBox="1"/>
          <p:nvPr/>
        </p:nvSpPr>
        <p:spPr>
          <a:xfrm>
            <a:off x="731520" y="2194560"/>
            <a:ext cx="10058400" cy="3657600"/>
          </a:xfrm>
          <a:prstGeom prst="rect">
            <a:avLst/>
          </a:prstGeom>
          <a:solidFill>
            <a:srgbClr val="0D0D0D"/>
          </a:solidFill>
        </p:spPr>
        <p:txBody>
          <a:bodyPr wrap="square">
            <a:spAutoFit/>
          </a:bodyPr>
          <a:lstStyle/>
          <a:p>
            <a:pPr>
              <a:defRPr sz="1400">
                <a:solidFill>
                  <a:srgbClr val="00FF88"/>
                </a:solidFill>
                <a:latin typeface="Menlo"/>
              </a:defRPr>
            </a:pPr>
            <a:r>
              <a:t>$ git log --oneline</a:t>
            </a:r>
            <a:br/>
            <a:br/>
            <a:r>
              <a:t>abc1234 CSS の色を変更          ← さっきの！</a:t>
            </a:r>
            <a:br/>
            <a:r>
              <a:t>def5678 トップページのタイトルを変更  ← 1回目！</a:t>
            </a:r>
            <a:br/>
            <a:r>
              <a:t>ghi9012 first commit           ← 一番最初</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334411"/>
        </a:solidFill>
        <a:effectLst/>
      </p:bgPr>
    </p:bg>
    <p:spTree>
      <p:nvGrpSpPr>
        <p:cNvPr id="1" name=""/>
        <p:cNvGrpSpPr/>
        <p:nvPr/>
      </p:nvGrpSpPr>
      <p:grpSpPr/>
      <p:sp>
        <p:nvSpPr>
          <p:cNvPr id="2" name="TextBox 1"/>
          <p:cNvSpPr txBox="1"/>
          <p:nvPr/>
        </p:nvSpPr>
        <p:spPr>
          <a:xfrm>
            <a:off x="731520" y="365760"/>
            <a:ext cx="10058400" cy="914400"/>
          </a:xfrm>
          <a:prstGeom prst="rect">
            <a:avLst/>
          </a:prstGeom>
          <a:noFill/>
        </p:spPr>
        <p:txBody>
          <a:bodyPr wrap="square">
            <a:spAutoFit/>
          </a:bodyPr>
          <a:lstStyle/>
          <a:p>
            <a:pPr algn="l">
              <a:defRPr sz="3200" b="1">
                <a:solidFill>
                  <a:srgbClr val="FFE135"/>
                </a:solidFill>
              </a:defRPr>
            </a:pPr>
            <a:r>
              <a:t>🎮 これ持って帰ってね</a:t>
            </a:r>
          </a:p>
        </p:txBody>
      </p:sp>
      <p:sp>
        <p:nvSpPr>
          <p:cNvPr id="3" name="TextBox 2"/>
          <p:cNvSpPr txBox="1"/>
          <p:nvPr/>
        </p:nvSpPr>
        <p:spPr>
          <a:xfrm>
            <a:off x="731520" y="1828800"/>
            <a:ext cx="10058400" cy="3657600"/>
          </a:xfrm>
          <a:prstGeom prst="rect">
            <a:avLst/>
          </a:prstGeom>
          <a:solidFill>
            <a:srgbClr val="0D0D0D"/>
          </a:solidFill>
        </p:spPr>
        <p:txBody>
          <a:bodyPr wrap="square">
            <a:spAutoFit/>
          </a:bodyPr>
          <a:lstStyle/>
          <a:p>
            <a:pPr>
              <a:defRPr sz="1400">
                <a:solidFill>
                  <a:srgbClr val="00FF88"/>
                </a:solidFill>
                <a:latin typeface="Menlo"/>
              </a:defRPr>
            </a:pPr>
            <a:r>
              <a:t>┌─────────────────────────────────────────┐</a:t>
            </a:r>
            <a:br/>
            <a:r>
              <a:t>│  🎮 Git 6つのコマンド チートシート         │</a:t>
            </a:r>
            <a:br/>
            <a:r>
              <a:t>│                                          │</a:t>
            </a:r>
            <a:br/>
            <a:r>
              <a:t>│  git clone &lt;URL&gt;    → プロジェクトをDL    │</a:t>
            </a:r>
            <a:br/>
            <a:r>
              <a:t>│  git status         → 何が変わったか確認  │</a:t>
            </a:r>
            <a:br/>
            <a:r>
              <a:t>│  git add .          → セーブ対象を選択    │</a:t>
            </a:r>
            <a:br/>
            <a:r>
              <a:t>│  git commit -m "…"  → セーブ＋メモ        │</a:t>
            </a:r>
            <a:br/>
            <a:r>
              <a:t>│  git push           → GitHub にアップ     │</a:t>
            </a:r>
            <a:br/>
            <a:r>
              <a:t>│  git pull           → 最新版をダウンロード │</a:t>
            </a:r>
            <a:br/>
            <a:r>
              <a:t>│                                          │</a:t>
            </a:r>
            <a:br/>
            <a:r>
              <a:t>│  毎日：変更 → status → add → commit → push │</a:t>
            </a:r>
            <a:br/>
            <a:r>
              <a: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441133"/>
        </a:solidFill>
        <a:effectLst/>
      </p:bgPr>
    </p:bg>
    <p:spTree>
      <p:nvGrpSpPr>
        <p:cNvPr id="1" name=""/>
        <p:cNvGrpSpPr/>
        <p:nvPr/>
      </p:nvGrpSpPr>
      <p:grpSpPr/>
      <p:sp>
        <p:nvSpPr>
          <p:cNvPr id="2" name="TextBox 1"/>
          <p:cNvSpPr txBox="1"/>
          <p:nvPr/>
        </p:nvSpPr>
        <p:spPr>
          <a:xfrm>
            <a:off x="914400" y="1828800"/>
            <a:ext cx="10058400" cy="1828800"/>
          </a:xfrm>
          <a:prstGeom prst="rect">
            <a:avLst/>
          </a:prstGeom>
          <a:noFill/>
        </p:spPr>
        <p:txBody>
          <a:bodyPr wrap="square">
            <a:spAutoFit/>
          </a:bodyPr>
          <a:lstStyle/>
          <a:p>
            <a:pPr algn="ctr">
              <a:defRPr sz="4000" b="1">
                <a:solidFill>
                  <a:srgbClr val="FFE135"/>
                </a:solidFill>
              </a:defRPr>
            </a:pPr>
            <a:r>
              <a:t>Block 6 ▸ デザート + まとめ</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441133"/>
        </a:solidFill>
        <a:effectLst/>
      </p:bgPr>
    </p:bg>
    <p:spTree>
      <p:nvGrpSpPr>
        <p:cNvPr id="1" name=""/>
        <p:cNvGrpSpPr/>
        <p:nvPr/>
      </p:nvGrpSpPr>
      <p:grpSpPr/>
      <p:sp>
        <p:nvSpPr>
          <p:cNvPr id="2" name="TextBox 1"/>
          <p:cNvSpPr txBox="1"/>
          <p:nvPr/>
        </p:nvSpPr>
        <p:spPr>
          <a:xfrm>
            <a:off x="731520" y="365760"/>
            <a:ext cx="10058400" cy="914400"/>
          </a:xfrm>
          <a:prstGeom prst="rect">
            <a:avLst/>
          </a:prstGeom>
          <a:noFill/>
        </p:spPr>
        <p:txBody>
          <a:bodyPr wrap="square">
            <a:spAutoFit/>
          </a:bodyPr>
          <a:lstStyle/>
          <a:p>
            <a:pPr algn="l">
              <a:defRPr sz="3200" b="1">
                <a:solidFill>
                  <a:srgbClr val="FFE135"/>
                </a:solidFill>
              </a:defRPr>
            </a:pPr>
            <a:r>
              <a:t>🤖 あなたの論文アシスタント（Jones が操作）</a:t>
            </a:r>
          </a:p>
        </p:txBody>
      </p:sp>
      <p:sp>
        <p:nvSpPr>
          <p:cNvPr id="3" name="TextBox 2"/>
          <p:cNvSpPr txBox="1"/>
          <p:nvPr/>
        </p:nvSpPr>
        <p:spPr>
          <a:xfrm>
            <a:off x="731520" y="1371600"/>
            <a:ext cx="6400800" cy="3657600"/>
          </a:xfrm>
          <a:prstGeom prst="rect">
            <a:avLst/>
          </a:prstGeom>
          <a:noFill/>
        </p:spPr>
        <p:txBody>
          <a:bodyPr wrap="square">
            <a:spAutoFit/>
          </a:bodyPr>
          <a:lstStyle/>
          <a:p>
            <a:pPr algn="l">
              <a:spcAft>
                <a:spcPts val="800"/>
              </a:spcAft>
              <a:defRPr sz="2000" b="0">
                <a:solidFill>
                  <a:srgbClr val="FFFFFF"/>
                </a:solidFill>
              </a:defRPr>
            </a:pPr>
            <a:r>
              <a:t>• notebooklm.google.com</a:t>
            </a:r>
          </a:p>
          <a:p>
            <a:pPr>
              <a:spcAft>
                <a:spcPts val="800"/>
              </a:spcAft>
              <a:defRPr sz="2000">
                <a:solidFill>
                  <a:srgbClr val="FFFFFF"/>
                </a:solidFill>
              </a:defRPr>
            </a:pPr>
            <a:r>
              <a:t>• 東アジア史の PDF を1つアップロード</a:t>
            </a:r>
          </a:p>
          <a:p>
            <a:pPr>
              <a:spcAft>
                <a:spcPts val="800"/>
              </a:spcAft>
              <a:defRPr sz="2000">
                <a:solidFill>
                  <a:srgbClr val="FFFFFF"/>
                </a:solidFill>
              </a:defRPr>
            </a:pPr>
            <a:r>
              <a:t>• 質問：「主な論点をわかりやすく説明して」</a:t>
            </a:r>
          </a:p>
          <a:p>
            <a:pPr>
              <a:spcAft>
                <a:spcPts val="800"/>
              </a:spcAft>
              <a:defRPr sz="2000">
                <a:solidFill>
                  <a:srgbClr val="FFFFFF"/>
                </a:solidFill>
              </a:defRPr>
            </a:pPr>
            <a:r>
              <a:t>• 質問：「テスト問題を5つ作って」</a:t>
            </a:r>
          </a:p>
          <a:p>
            <a:pPr>
              <a:spcAft>
                <a:spcPts val="800"/>
              </a:spcAft>
              <a:defRPr sz="2000">
                <a:solidFill>
                  <a:srgbClr val="FFFFFF"/>
                </a:solidFill>
              </a:defRPr>
            </a:pPr>
            <a:r>
              <a:t>• キラー機能：Audio Overview → Podcast が生成される！</a:t>
            </a:r>
          </a:p>
          <a:p>
            <a:pPr>
              <a:spcAft>
                <a:spcPts val="800"/>
              </a:spcAft>
              <a:defRPr sz="2000">
                <a:solidFill>
                  <a:srgbClr val="FFFFFF"/>
                </a:solidFill>
              </a:defRPr>
            </a:pPr>
            <a:r>
              <a:t>• 2人の AI が対話形式で論文の内容を議論</a:t>
            </a:r>
          </a:p>
          <a:p>
            <a:pPr>
              <a:spcAft>
                <a:spcPts val="800"/>
              </a:spcAft>
              <a:defRPr sz="2000">
                <a:solidFill>
                  <a:srgbClr val="FFFFFF"/>
                </a:solidFill>
              </a:defRPr>
            </a:pPr>
            <a:r>
              <a:t>• 完全無料 / 中国語・日本語対応 / アップロードした資料だけを元に回答</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441133"/>
        </a:solidFill>
        <a:effectLst/>
      </p:bgPr>
    </p:bg>
    <p:spTree>
      <p:nvGrpSpPr>
        <p:cNvPr id="1" name=""/>
        <p:cNvGrpSpPr/>
        <p:nvPr/>
      </p:nvGrpSpPr>
      <p:grpSpPr/>
      <p:sp>
        <p:nvSpPr>
          <p:cNvPr id="2" name="TextBox 1"/>
          <p:cNvSpPr txBox="1"/>
          <p:nvPr/>
        </p:nvSpPr>
        <p:spPr>
          <a:xfrm>
            <a:off x="731520" y="365760"/>
            <a:ext cx="10058400" cy="914400"/>
          </a:xfrm>
          <a:prstGeom prst="rect">
            <a:avLst/>
          </a:prstGeom>
          <a:noFill/>
        </p:spPr>
        <p:txBody>
          <a:bodyPr wrap="square">
            <a:spAutoFit/>
          </a:bodyPr>
          <a:lstStyle/>
          <a:p>
            <a:pPr algn="l">
              <a:defRPr sz="3200" b="1">
                <a:solidFill>
                  <a:srgbClr val="FFE135"/>
                </a:solidFill>
              </a:defRPr>
            </a:pPr>
            <a:r>
              <a:t>言葉でプログラミングする時代</a:t>
            </a:r>
          </a:p>
        </p:txBody>
      </p:sp>
      <p:sp>
        <p:nvSpPr>
          <p:cNvPr id="3" name="TextBox 2"/>
          <p:cNvSpPr txBox="1"/>
          <p:nvPr/>
        </p:nvSpPr>
        <p:spPr>
          <a:xfrm>
            <a:off x="731520" y="1371600"/>
            <a:ext cx="6400800" cy="3657600"/>
          </a:xfrm>
          <a:prstGeom prst="rect">
            <a:avLst/>
          </a:prstGeom>
          <a:noFill/>
        </p:spPr>
        <p:txBody>
          <a:bodyPr wrap="square">
            <a:spAutoFit/>
          </a:bodyPr>
          <a:lstStyle/>
          <a:p>
            <a:pPr algn="l">
              <a:spcAft>
                <a:spcPts val="800"/>
              </a:spcAft>
              <a:defRPr sz="2000" b="0">
                <a:solidFill>
                  <a:srgbClr val="FFFFFF"/>
                </a:solidFill>
              </a:defRPr>
            </a:pPr>
            <a:r>
              <a:t>• Vibe Coding = 自然な言葉で AI に「こうしたい」と伝える</a:t>
            </a:r>
          </a:p>
          <a:p>
            <a:pPr>
              <a:spcAft>
                <a:spcPts val="800"/>
              </a:spcAft>
              <a:defRPr sz="2000">
                <a:solidFill>
                  <a:srgbClr val="FFFFFF"/>
                </a:solidFill>
              </a:defRPr>
            </a:pPr>
            <a:r>
              <a:t>• AI がコードを書いてくれる</a:t>
            </a:r>
          </a:p>
          <a:p>
            <a:pPr>
              <a:spcAft>
                <a:spcPts val="800"/>
              </a:spcAft>
              <a:defRPr sz="2000">
                <a:solidFill>
                  <a:srgbClr val="FFFFFF"/>
                </a:solidFill>
              </a:defRPr>
            </a:pPr>
            <a:r>
              <a:t>• 自分で書けなくてもいい、でもAI が書いたものが合ってるか判断できることが大事</a:t>
            </a:r>
          </a:p>
          <a:p>
            <a:pPr>
              <a:spcAft>
                <a:spcPts val="800"/>
              </a:spcAft>
              <a:defRPr sz="2000">
                <a:solidFill>
                  <a:srgbClr val="FFFFFF"/>
                </a:solidFill>
              </a:defRPr>
            </a:pPr>
            <a:r>
              <a:t>• → だから基礎を先に学んでるんだよ</a:t>
            </a:r>
          </a:p>
          <a:p>
            <a:pPr>
              <a:spcAft>
                <a:spcPts val="800"/>
              </a:spcAft>
              <a:defRPr sz="2000">
                <a:solidFill>
                  <a:srgbClr val="FFFFFF"/>
                </a:solidFill>
              </a:defRPr>
            </a:pPr>
            <a:r>
              <a:t>• 将来こう言えるようになる：「サイトにダークモードのボタンをつけて」</a:t>
            </a:r>
          </a:p>
          <a:p>
            <a:pPr>
              <a:spcAft>
                <a:spcPts val="800"/>
              </a:spcAft>
              <a:defRPr sz="2000">
                <a:solidFill>
                  <a:srgbClr val="FFFFFF"/>
                </a:solidFill>
              </a:defRPr>
            </a:pPr>
            <a:r>
              <a:t>• → AI がコードを書いてくれる</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441133"/>
        </a:solidFill>
        <a:effectLst/>
      </p:bgPr>
    </p:bg>
    <p:spTree>
      <p:nvGrpSpPr>
        <p:cNvPr id="1" name=""/>
        <p:cNvGrpSpPr/>
        <p:nvPr/>
      </p:nvGrpSpPr>
      <p:grpSpPr/>
      <p:sp>
        <p:nvSpPr>
          <p:cNvPr id="2" name="TextBox 1"/>
          <p:cNvSpPr txBox="1"/>
          <p:nvPr/>
        </p:nvSpPr>
        <p:spPr>
          <a:xfrm>
            <a:off x="731520" y="365760"/>
            <a:ext cx="10058400" cy="914400"/>
          </a:xfrm>
          <a:prstGeom prst="rect">
            <a:avLst/>
          </a:prstGeom>
          <a:noFill/>
        </p:spPr>
        <p:txBody>
          <a:bodyPr wrap="square">
            <a:spAutoFit/>
          </a:bodyPr>
          <a:lstStyle/>
          <a:p>
            <a:pPr algn="l">
              <a:defRPr sz="3200" b="1">
                <a:solidFill>
                  <a:srgbClr val="FFE135"/>
                </a:solidFill>
              </a:defRPr>
            </a:pPr>
            <a:r>
              <a:t>ブランドサイト ロードマップ</a:t>
            </a:r>
          </a:p>
        </p:txBody>
      </p:sp>
      <p:sp>
        <p:nvSpPr>
          <p:cNvPr id="3" name="TextBox 2"/>
          <p:cNvSpPr txBox="1"/>
          <p:nvPr/>
        </p:nvSpPr>
        <p:spPr>
          <a:xfrm>
            <a:off x="731520" y="1828800"/>
            <a:ext cx="10058400" cy="3657600"/>
          </a:xfrm>
          <a:prstGeom prst="rect">
            <a:avLst/>
          </a:prstGeom>
          <a:solidFill>
            <a:srgbClr val="0D0D0D"/>
          </a:solidFill>
        </p:spPr>
        <p:txBody>
          <a:bodyPr wrap="square">
            <a:spAutoFit/>
          </a:bodyPr>
          <a:lstStyle/>
          <a:p>
            <a:pPr>
              <a:defRPr sz="1400">
                <a:solidFill>
                  <a:srgbClr val="00FF88"/>
                </a:solidFill>
                <a:latin typeface="Menlo"/>
              </a:defRPr>
            </a:pPr>
            <a:r>
              <a:t>今ここ ↓</a:t>
            </a:r>
            <a:br/>
            <a:br/>
            <a:r>
              <a:t>1. ✅ おしゃれなブランドページ（HTML + CSS + GitHub Pages）</a:t>
            </a:r>
            <a:br/>
            <a:r>
              <a:t>2. ✅ プロのバージョン管理（Git CLI）← 今日学んだ！</a:t>
            </a:r>
            <a:br/>
            <a:r>
              <a:t>3. 🔜 インタラクション機能（JavaScript 基礎）</a:t>
            </a:r>
            <a:br/>
            <a:r>
              <a:t>4. 🔜 AI でもっと高度な機能（Vibe Coding）</a:t>
            </a:r>
            <a:br/>
            <a:r>
              <a:t>5. 🔜 ブランド EC サイト（Shopify / 自作）</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441133"/>
        </a:solidFill>
        <a:effectLst/>
      </p:bgPr>
    </p:bg>
    <p:spTree>
      <p:nvGrpSpPr>
        <p:cNvPr id="1" name=""/>
        <p:cNvGrpSpPr/>
        <p:nvPr/>
      </p:nvGrpSpPr>
      <p:grpSpPr/>
      <p:sp>
        <p:nvSpPr>
          <p:cNvPr id="2" name="TextBox 1"/>
          <p:cNvSpPr txBox="1"/>
          <p:nvPr/>
        </p:nvSpPr>
        <p:spPr>
          <a:xfrm>
            <a:off x="731520" y="365760"/>
            <a:ext cx="10058400" cy="914400"/>
          </a:xfrm>
          <a:prstGeom prst="rect">
            <a:avLst/>
          </a:prstGeom>
          <a:noFill/>
        </p:spPr>
        <p:txBody>
          <a:bodyPr wrap="square">
            <a:spAutoFit/>
          </a:bodyPr>
          <a:lstStyle/>
          <a:p>
            <a:pPr algn="l">
              <a:defRPr sz="3200" b="1">
                <a:solidFill>
                  <a:srgbClr val="FFE135"/>
                </a:solidFill>
              </a:defRPr>
            </a:pPr>
            <a:r>
              <a:t>課題 &amp; 今日のまとめ</a:t>
            </a:r>
          </a:p>
        </p:txBody>
      </p:sp>
      <p:sp>
        <p:nvSpPr>
          <p:cNvPr id="3" name="TextBox 2"/>
          <p:cNvSpPr txBox="1"/>
          <p:nvPr/>
        </p:nvSpPr>
        <p:spPr>
          <a:xfrm>
            <a:off x="731520" y="1371600"/>
            <a:ext cx="6400800" cy="3657600"/>
          </a:xfrm>
          <a:prstGeom prst="rect">
            <a:avLst/>
          </a:prstGeom>
          <a:noFill/>
        </p:spPr>
        <p:txBody>
          <a:bodyPr wrap="square">
            <a:spAutoFit/>
          </a:bodyPr>
          <a:lstStyle/>
          <a:p>
            <a:pPr algn="l">
              <a:spcAft>
                <a:spcPts val="800"/>
              </a:spcAft>
              <a:defRPr sz="2000" b="0">
                <a:solidFill>
                  <a:srgbClr val="FFFFFF"/>
                </a:solidFill>
              </a:defRPr>
            </a:pPr>
            <a:r>
              <a:t>• ✅ 必須：自分で Git を使ってサイトを更新する（何でもOK）、add → commit → push を完走</a:t>
            </a:r>
          </a:p>
          <a:p>
            <a:pPr>
              <a:spcAft>
                <a:spcPts val="800"/>
              </a:spcAft>
              <a:defRPr sz="2000">
                <a:solidFill>
                  <a:srgbClr val="FFFFFF"/>
                </a:solidFill>
              </a:defRPr>
            </a:pPr>
            <a:r>
              <a:t>• 📖 任意：サル先生の Git 入門を読む（backlog.com/ja/git-tutorial/）</a:t>
            </a:r>
          </a:p>
          <a:p>
            <a:pPr>
              <a:spcAft>
                <a:spcPts val="800"/>
              </a:spcAft>
              <a:defRPr sz="2000">
                <a:solidFill>
                  <a:srgbClr val="FFFFFF"/>
                </a:solidFill>
              </a:defRPr>
            </a:pPr>
            <a:r>
              <a:t>• 🤖 任意：NotebookLM を試す、授業の資料をアップしてみる</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441133"/>
        </a:solidFill>
        <a:effectLst/>
      </p:bgPr>
    </p:bg>
    <p:spTree>
      <p:nvGrpSpPr>
        <p:cNvPr id="1" name=""/>
        <p:cNvGrpSpPr/>
        <p:nvPr/>
      </p:nvGrpSpPr>
      <p:grpSpPr/>
      <p:sp>
        <p:nvSpPr>
          <p:cNvPr id="2" name="TextBox 1"/>
          <p:cNvSpPr txBox="1"/>
          <p:nvPr/>
        </p:nvSpPr>
        <p:spPr>
          <a:xfrm>
            <a:off x="914400" y="1828800"/>
            <a:ext cx="10058400" cy="1828800"/>
          </a:xfrm>
          <a:prstGeom prst="rect">
            <a:avLst/>
          </a:prstGeom>
          <a:noFill/>
        </p:spPr>
        <p:txBody>
          <a:bodyPr wrap="square">
            <a:spAutoFit/>
          </a:bodyPr>
          <a:lstStyle/>
          <a:p>
            <a:pPr algn="ctr">
              <a:defRPr sz="4000" b="1">
                <a:solidFill>
                  <a:srgbClr val="FFE135"/>
                </a:solidFill>
              </a:defRPr>
            </a:pPr>
            <a:r>
              <a:t>📝 付録：Jones の教え方メモ</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